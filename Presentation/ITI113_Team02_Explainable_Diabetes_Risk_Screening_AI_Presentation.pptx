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embeddedFontLs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Plus Jakarta Sans" panose="02010600030101010101" charset="0"/>
      <p:regular r:id="rId30"/>
      <p:bold r:id="rId31"/>
      <p:italic r:id="rId32"/>
      <p:boldItalic r:id="rId33"/>
    </p:embeddedFont>
    <p:embeddedFont>
      <p:font typeface="Plus Jakarta Sans ExtraBold" panose="02010600030101010101" charset="0"/>
      <p:bold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3bUEzNhvN7AGvCACuOJISEQ4v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82CFB8-9FF7-495E-9259-48C48538E348}">
  <a:tblStyle styleId="{D982CFB8-9FF7-495E-9259-48C48538E3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692" autoAdjust="0"/>
  </p:normalViewPr>
  <p:slideViewPr>
    <p:cSldViewPr snapToGrid="0">
      <p:cViewPr varScale="1">
        <p:scale>
          <a:sx n="106" d="100"/>
          <a:sy n="106" d="100"/>
        </p:scale>
        <p:origin x="23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Machine Learning Diabetes to help frontline health worker to prioritise for next clinical test using the self-reportable answer based on set of questions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 always believe preventive is always better than cure, treat it earlier, therefore the model is maximizing PR-AUC/recall under class imbalance data, a missed case is costlier than unneeded follow up test.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da758b82_0_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g3fada758b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1" name="Google Shape;3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6" name="Google Shape;3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B3D42"/>
                </a:solidFill>
                <a:latin typeface="Calibri"/>
                <a:ea typeface="Calibri"/>
                <a:cs typeface="Calibri"/>
                <a:sym typeface="Calibri"/>
              </a:rPr>
              <a:t>Representative false negative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Young, low-BMI, no HighBP/HighChol, excellent self-rated health - an atypical, low-conventional-risk presentation the model cannot be expected to catch.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>
                <a:solidFill>
                  <a:srgbClr val="0B3D42"/>
                </a:solidFill>
                <a:latin typeface="Calibri"/>
                <a:ea typeface="Calibri"/>
                <a:cs typeface="Calibri"/>
                <a:sym typeface="Calibri"/>
              </a:rPr>
              <a:t>Representative false positive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HighBP + HighChol + high BMI + poor general health - confidently flagged for genuine, clinically sensible risk-factor co-occurrence, not an arbitrary error.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0" name="Google Shape;4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0" name="Google Shape;4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2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is our main MLOps flow.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 01A sets up the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SageMaker MLflow environment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including the artifact store, MLflow app, experiment access and handoff configuration.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 03 then takes the final model evidence, applies the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held-out PR-AUC champion rule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verifies data lineage, preprocesses the data, trains and evaluates XGBoost, and records the run in MLflow.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is then registered as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PendingManualApproval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Only after human approval is it deployed to the SageMaker serverless endpoint and monitored.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key point is that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MLflow links the exact model, data, configuration, metrics and artifacts to the deployed release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.”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p2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demonstrates how we trigger a new pipeline execution when new data arrives.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Copy notebook creates a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timestamped copy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cleaned dataset inside the S3 trigger folder.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polling notebook checks that folder every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 seconds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detects new objects using the key, ETag, size and last-modified information.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retraining, it validates the pipeline contract and performs a lineage preflight, including row count, schema and dataset hashes.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validation passes, it starts a new SageMaker pipeline execution using the frozen parameters.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validation fails, the trigger is blocked and the reason is written to the audit log.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importantly, the trigger </a:t>
            </a: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automatically approve or deploy the new model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" name="Google Shape;696;p3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shows our deployed inference architecture.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notebook first verifies the SageMaker endpoint and model lineage, then starts authenticated /health and /predict APIs and exposes them through an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ngrok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HTTPS tunnel.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 interacts with the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application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validates the 21 input features and requires acknowledgement that this is screening support only.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request then flows: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ngrok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SageMaker serverless endpoint →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result.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credentials stay inside SageMaker, and the application only displays plain-language outputs such as 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‘Follow-up suggested’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‘No warning detected’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3" name="Google Shape;803;p3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live demo, I will first show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will open the Team02 experiment, select the champion run, and show the parameters, metrics and artifacts.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most important metric is 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PR-AUC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because that is our primary champion-selection metric.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will also show the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run ID, which provides the audit link back to the exact model release.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key message is: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our reproducibility and audit record, not just a dashboard.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Next, I will demonstrate the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application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will check the system connection, enter one sample, acknowledge the screening disclaimer and run the prediction.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demonstrates the complete live path from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SageMaker and back to the user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5" name="Google Shape;8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4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descr="/home/claude/pptx/icon_shield_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126" y="82524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ITI113 - MACHINE LEARNING OPERATIONS  |  TEAM 02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224028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Explainable Diabetes Risk</a:t>
            </a:r>
            <a:endParaRPr sz="4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Screening AI</a:t>
            </a:r>
            <a:endParaRPr sz="4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4069080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E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ADCE0"/>
                </a:solidFill>
                <a:latin typeface="Calibri"/>
                <a:ea typeface="Calibri"/>
                <a:cs typeface="Calibri"/>
                <a:sym typeface="Calibri"/>
              </a:rPr>
              <a:t>Final Presentation - Dataset, Modelling, Governance, and the Deployed System End-to-End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50292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F4F5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7240" y="515721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Djony Pamudji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77240" y="555955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Model A - Logistic Regression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251960" y="50292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F4F5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480560" y="515721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Fong Siang Yi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480560" y="555955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Model B - XGBoost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955280" y="50292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F4F5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183880" y="515721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Teh Tze Chee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183880" y="555955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MLOps, Deployment &amp; Live Demo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382000" y="2103120"/>
            <a:ext cx="304800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6000"/>
              <a:buFont typeface="Cambria"/>
              <a:buNone/>
            </a:pPr>
            <a:r>
              <a:rPr lang="en-US" sz="160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38200" y="1600200"/>
            <a:ext cx="838200" cy="685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38200" y="1918080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8200" y="2377440"/>
            <a:ext cx="6172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38200" y="4160520"/>
            <a:ext cx="6019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66800" y="506577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66800" y="5468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9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DD9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DD9C7"/>
                </a:solidFill>
                <a:latin typeface="Calibri"/>
                <a:ea typeface="Calibri"/>
                <a:cs typeface="Calibri"/>
                <a:sym typeface="Calibri"/>
              </a:rPr>
              <a:t>01 - PROBLEM &amp; APPROACH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68580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7FBFF"/>
                </a:solidFill>
                <a:latin typeface="Cambria"/>
                <a:ea typeface="Cambria"/>
                <a:cs typeface="Cambria"/>
                <a:sym typeface="Cambria"/>
              </a:rPr>
              <a:t>A Fast, Low-Friction Screening Signal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1600200"/>
            <a:ext cx="576072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7FBFF"/>
                </a:solidFill>
                <a:latin typeface="Calibri"/>
                <a:ea typeface="Calibri"/>
                <a:cs typeface="Calibri"/>
                <a:sym typeface="Calibri"/>
              </a:rPr>
              <a:t>Type 2 diabetes and prediabetes are frequently undiagnosed until complications appear. Our goal: give a person - or a frontline health worker - a way to flag who should be prioritised for a confirmatory clinical test, using only self-reportable answers.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3794760"/>
            <a:ext cx="54864" cy="502920"/>
          </a:xfrm>
          <a:prstGeom prst="rect">
            <a:avLst/>
          </a:prstGeom>
          <a:solidFill>
            <a:srgbClr val="4DD9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77240" y="37490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DD9C7"/>
                </a:solidFill>
                <a:latin typeface="Calibri"/>
                <a:ea typeface="Calibri"/>
                <a:cs typeface="Calibri"/>
                <a:sym typeface="Calibri"/>
              </a:rPr>
              <a:t>Binary classification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77240" y="404164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7D5E5"/>
                </a:solidFill>
                <a:latin typeface="Calibri"/>
                <a:ea typeface="Calibri"/>
                <a:cs typeface="Calibri"/>
                <a:sym typeface="Calibri"/>
              </a:rPr>
              <a:t>Diabetes/prediabetes vs. no diabetes - a screening flag, not a diagnosis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4480560"/>
            <a:ext cx="54864" cy="502920"/>
          </a:xfrm>
          <a:prstGeom prst="rect">
            <a:avLst/>
          </a:prstGeom>
          <a:solidFill>
            <a:srgbClr val="4DD9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7240" y="44348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DD9C7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77240" y="472744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7D5E5"/>
                </a:solidFill>
                <a:latin typeface="Calibri"/>
                <a:ea typeface="Calibri"/>
                <a:cs typeface="Calibri"/>
                <a:sym typeface="Calibri"/>
              </a:rPr>
              <a:t>21 self-reported clinical, lifestyle &amp; demographic indicators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5166360"/>
            <a:ext cx="54864" cy="502920"/>
          </a:xfrm>
          <a:prstGeom prst="rect">
            <a:avLst/>
          </a:prstGeom>
          <a:solidFill>
            <a:srgbClr val="4DD9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240" y="51206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DD9C7"/>
                </a:solidFill>
                <a:latin typeface="Calibri"/>
                <a:ea typeface="Calibri"/>
                <a:cs typeface="Calibri"/>
                <a:sym typeface="Calibri"/>
              </a:rPr>
              <a:t>ML objective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77240" y="541324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7D5E5"/>
                </a:solidFill>
                <a:latin typeface="Calibri"/>
                <a:ea typeface="Calibri"/>
                <a:cs typeface="Calibri"/>
                <a:sym typeface="Calibri"/>
              </a:rPr>
              <a:t>Recall-aware (PR-AUC primary) - a missed case costs more than an unneeded test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720840" y="160020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12314A"/>
          </a:solidFill>
          <a:ln w="12700" cap="flat" cmpd="sng">
            <a:solidFill>
              <a:srgbClr val="3A5C7D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2314A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040880" y="18745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DD9C7"/>
                </a:solidFill>
                <a:latin typeface="Calibri"/>
                <a:ea typeface="Calibri"/>
                <a:cs typeface="Calibri"/>
                <a:sym typeface="Calibri"/>
              </a:rPr>
              <a:t>BUSINESS OBJECTIVE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040880" y="219456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Prioritise the right people for a confirmatory test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915400" y="288036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DD9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040880" y="35661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DD9C7"/>
                </a:solidFill>
                <a:latin typeface="Calibri"/>
                <a:ea typeface="Calibri"/>
                <a:cs typeface="Calibri"/>
                <a:sym typeface="Calibri"/>
              </a:rPr>
              <a:t>ML OBJECTIVE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040880" y="3886200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Maximise PR-AUC / recall under class imbalance - not raw accuracy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040880" y="4846320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AB0C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AB0C8"/>
                </a:solidFill>
                <a:latin typeface="Calibri"/>
                <a:ea typeface="Calibri"/>
                <a:cs typeface="Calibri"/>
                <a:sym typeface="Calibri"/>
              </a:rPr>
              <a:t>A false negative (missed case) is costlier than a false positive (unneeded follow-up test) - every modelling choice traces back to this.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7D5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da758b82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ada758b82_0_0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ada758b82_0_0"/>
          <p:cNvSpPr/>
          <p:nvPr/>
        </p:nvSpPr>
        <p:spPr>
          <a:xfrm>
            <a:off x="8382000" y="2103120"/>
            <a:ext cx="30480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6000"/>
              <a:buFont typeface="Cambria"/>
              <a:buNone/>
            </a:pPr>
            <a:r>
              <a:rPr lang="en-US" sz="160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ada758b82_0_0"/>
          <p:cNvSpPr/>
          <p:nvPr/>
        </p:nvSpPr>
        <p:spPr>
          <a:xfrm>
            <a:off x="838200" y="1600200"/>
            <a:ext cx="838200" cy="687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ada758b82_0_0"/>
          <p:cNvSpPr/>
          <p:nvPr/>
        </p:nvSpPr>
        <p:spPr>
          <a:xfrm>
            <a:off x="838200" y="1918080"/>
            <a:ext cx="609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ada758b82_0_0"/>
          <p:cNvSpPr/>
          <p:nvPr/>
        </p:nvSpPr>
        <p:spPr>
          <a:xfrm>
            <a:off x="838200" y="2377440"/>
            <a:ext cx="61722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&amp; Baseline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ada758b82_0_0"/>
          <p:cNvSpPr/>
          <p:nvPr/>
        </p:nvSpPr>
        <p:spPr>
          <a:xfrm>
            <a:off x="838200" y="4160520"/>
            <a:ext cx="6019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Screening objective, the health-indicator dataset and its EDA, and the Logistic Regression baseline evaluation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ada758b82_0_0"/>
          <p:cNvSpPr/>
          <p:nvPr/>
        </p:nvSpPr>
        <p:spPr>
          <a:xfrm>
            <a:off x="838200" y="4937760"/>
            <a:ext cx="3383400" cy="1051500"/>
          </a:xfrm>
          <a:prstGeom prst="roundRect">
            <a:avLst>
              <a:gd name="adj" fmla="val 6957"/>
            </a:avLst>
          </a:prstGeom>
          <a:solidFill>
            <a:srgbClr val="0F4F5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ada758b82_0_0"/>
          <p:cNvSpPr/>
          <p:nvPr/>
        </p:nvSpPr>
        <p:spPr>
          <a:xfrm>
            <a:off x="838200" y="4937760"/>
            <a:ext cx="45600" cy="1051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ada758b82_0_0"/>
          <p:cNvSpPr/>
          <p:nvPr/>
        </p:nvSpPr>
        <p:spPr>
          <a:xfrm>
            <a:off x="1066800" y="5065776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Djony Pamudji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ada758b82_0_0"/>
          <p:cNvSpPr/>
          <p:nvPr/>
        </p:nvSpPr>
        <p:spPr>
          <a:xfrm>
            <a:off x="1066800" y="5468112"/>
            <a:ext cx="292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Data &amp; EDA * Model A – Logistic Regression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 cap="flat" cmpd="sng">
            <a:solidFill>
              <a:srgbClr val="0B1F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D9C7"/>
          </a:solidFill>
          <a:ln w="12700" cap="flat" cmpd="sng">
            <a:solidFill>
              <a:srgbClr val="4DD9C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DD9C7"/>
          </a:solidFill>
          <a:ln w="12700" cap="flat" cmpd="sng">
            <a:solidFill>
              <a:srgbClr val="4DD9C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" y="68580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Diabetes Health Indicators</a:t>
            </a:r>
            <a:endParaRPr sz="3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2920" y="1417320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4DD9C7"/>
                </a:solidFill>
                <a:latin typeface="Arial"/>
                <a:ea typeface="Arial"/>
                <a:cs typeface="Arial"/>
                <a:sym typeface="Arial"/>
              </a:rPr>
              <a:t>for Diabetes Screening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30352" y="2048256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C7D5E5"/>
                </a:solidFill>
                <a:latin typeface="Arial"/>
                <a:ea typeface="Arial"/>
                <a:cs typeface="Arial"/>
                <a:sym typeface="Arial"/>
              </a:rPr>
              <a:t>Kaggle health-indicator dataset • screening-support classifier • Logistic Regression Model A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0080" y="2788920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253,680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322783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180"/>
              <a:buFont typeface="Arial"/>
              <a:buNone/>
            </a:pPr>
            <a:r>
              <a:rPr lang="en-US" sz="1180" b="1" i="0" u="none" strike="noStrike" cap="none">
                <a:solidFill>
                  <a:srgbClr val="C7D5E5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sz="11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43200" y="278892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743200" y="322783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180"/>
              <a:buFont typeface="Arial"/>
              <a:buNone/>
            </a:pPr>
            <a:r>
              <a:rPr lang="en-US" sz="1180" b="1" i="0" u="none" strike="noStrike" cap="none">
                <a:solidFill>
                  <a:srgbClr val="C7D5E5"/>
                </a:solidFill>
                <a:latin typeface="Arial"/>
                <a:ea typeface="Arial"/>
                <a:cs typeface="Arial"/>
                <a:sym typeface="Arial"/>
              </a:rPr>
              <a:t>Predictors</a:t>
            </a:r>
            <a:endParaRPr sz="11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297680" y="278892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A7A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F7A7A"/>
                </a:solidFill>
                <a:latin typeface="Arial"/>
                <a:ea typeface="Arial"/>
                <a:cs typeface="Arial"/>
                <a:sym typeface="Arial"/>
              </a:rPr>
              <a:t>15.76%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297680" y="32278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180"/>
              <a:buFont typeface="Arial"/>
              <a:buNone/>
            </a:pPr>
            <a:r>
              <a:rPr lang="en-US" sz="1180" b="1" i="0" u="none" strike="noStrike" cap="none">
                <a:solidFill>
                  <a:srgbClr val="C7D5E5"/>
                </a:solidFill>
                <a:latin typeface="Arial"/>
                <a:ea typeface="Arial"/>
                <a:cs typeface="Arial"/>
                <a:sym typeface="Arial"/>
              </a:rPr>
              <a:t>Positive class</a:t>
            </a:r>
            <a:endParaRPr sz="11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46520" y="278892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E6A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72E6A2"/>
                </a:solidFill>
                <a:latin typeface="Arial"/>
                <a:ea typeface="Arial"/>
                <a:cs typeface="Arial"/>
                <a:sym typeface="Arial"/>
              </a:rPr>
              <a:t>Screening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46520" y="32278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5"/>
              </a:buClr>
              <a:buSzPts val="1180"/>
              <a:buFont typeface="Arial"/>
              <a:buNone/>
            </a:pPr>
            <a:r>
              <a:rPr lang="en-US" sz="1180" b="1" i="0" u="none" strike="noStrike" cap="none">
                <a:solidFill>
                  <a:srgbClr val="C7D5E5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006840" y="1097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Target after binary conversion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006840" y="1993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D9C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4DD9C7"/>
                </a:solidFill>
                <a:latin typeface="Arial"/>
                <a:ea typeface="Arial"/>
                <a:cs typeface="Arial"/>
                <a:sym typeface="Arial"/>
              </a:rPr>
              <a:t>Negative 84.24%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006840" y="2331720"/>
            <a:ext cx="2788920" cy="301752"/>
          </a:xfrm>
          <a:prstGeom prst="rect">
            <a:avLst/>
          </a:prstGeom>
          <a:solidFill>
            <a:srgbClr val="4DD9C7"/>
          </a:solidFill>
          <a:ln w="12700" cap="flat" cmpd="sng">
            <a:solidFill>
              <a:srgbClr val="4DD9C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006840" y="2926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A7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7A7A"/>
                </a:solidFill>
                <a:latin typeface="Arial"/>
                <a:ea typeface="Arial"/>
                <a:cs typeface="Arial"/>
                <a:sym typeface="Arial"/>
              </a:rPr>
              <a:t>Positive 15.76%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006840" y="3264408"/>
            <a:ext cx="521208" cy="301752"/>
          </a:xfrm>
          <a:prstGeom prst="rect">
            <a:avLst/>
          </a:prstGeom>
          <a:solidFill>
            <a:srgbClr val="FF7A7A"/>
          </a:solidFill>
          <a:ln w="12700" cap="flat" cmpd="sng">
            <a:solidFill>
              <a:srgbClr val="FF7A7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4"/>
          <p:cNvCxnSpPr/>
          <p:nvPr/>
        </p:nvCxnSpPr>
        <p:spPr>
          <a:xfrm>
            <a:off x="502920" y="4800600"/>
            <a:ext cx="10881360" cy="0"/>
          </a:xfrm>
          <a:prstGeom prst="straightConnector1">
            <a:avLst/>
          </a:prstGeom>
          <a:noFill/>
          <a:ln w="15225" cap="flat" cmpd="sng">
            <a:solidFill>
              <a:srgbClr val="3A5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4"/>
          <p:cNvSpPr/>
          <p:nvPr/>
        </p:nvSpPr>
        <p:spPr>
          <a:xfrm>
            <a:off x="658368" y="5074920"/>
            <a:ext cx="10607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Goal: flag respondents likely to have prediabetes or diabetes for follow-up, not diagnosis.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11480" y="5916168"/>
            <a:ext cx="11356848" cy="502920"/>
          </a:xfrm>
          <a:prstGeom prst="roundRect">
            <a:avLst>
              <a:gd name="adj" fmla="val 10909"/>
            </a:avLst>
          </a:prstGeom>
          <a:solidFill>
            <a:srgbClr val="061522">
              <a:alpha val="92157"/>
            </a:srgbClr>
          </a:solidFill>
          <a:ln w="12700" cap="flat" cmpd="sng">
            <a:solidFill>
              <a:srgbClr val="3A5C7D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94360" y="601675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Arial"/>
              <a:buNone/>
            </a:pPr>
            <a:r>
              <a:rPr lang="en-US" sz="111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Transcript: The positive screening class combines prediabetes and diabetes. Within that positive class, prediabetes is only 4,631 cases (11.6%), while diabetes is 35,346 cases (88.4%). This 7.6:1 difference is why the original three-class label is retained for EDA and audit, while the model uses a binary target for screening.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50976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B0C8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9AB0C8"/>
                </a:solidFill>
                <a:latin typeface="Arial"/>
                <a:ea typeface="Arial"/>
                <a:cs typeface="Arial"/>
                <a:sym typeface="Arial"/>
              </a:rPr>
              <a:t>Diabetes Health Indicators Screening  •  1/5</a:t>
            </a:r>
            <a:endParaRPr sz="9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909560" y="3246120"/>
            <a:ext cx="3675887" cy="1417320"/>
          </a:xfrm>
          <a:prstGeom prst="roundRect">
            <a:avLst>
              <a:gd name="adj" fmla="val 16667"/>
            </a:avLst>
          </a:prstGeom>
          <a:solidFill>
            <a:srgbClr val="082D3E"/>
          </a:solidFill>
          <a:ln w="15225" cap="flat" cmpd="sng">
            <a:solidFill>
              <a:srgbClr val="6ADB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8046720" y="3346704"/>
            <a:ext cx="340156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to retain 3-class label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046720" y="3593592"/>
            <a:ext cx="3401567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E6F2"/>
              </a:buClr>
              <a:buSzPts val="880"/>
              <a:buFont typeface="Arial"/>
              <a:buNone/>
            </a:pPr>
            <a:r>
              <a:rPr lang="en-US" sz="880" b="0" i="0" u="none" strike="noStrike" cap="none">
                <a:solidFill>
                  <a:srgbClr val="D2E6F2"/>
                </a:solidFill>
                <a:latin typeface="Arial"/>
                <a:ea typeface="Arial"/>
                <a:cs typeface="Arial"/>
                <a:sym typeface="Arial"/>
              </a:rPr>
              <a:t>Inside positive class: 39,977 records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046720" y="3822192"/>
            <a:ext cx="393901" cy="137160"/>
          </a:xfrm>
          <a:prstGeom prst="rect">
            <a:avLst/>
          </a:prstGeom>
          <a:solidFill>
            <a:srgbClr val="FFCA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440621" y="3822192"/>
            <a:ext cx="3007665" cy="137160"/>
          </a:xfrm>
          <a:prstGeom prst="rect">
            <a:avLst/>
          </a:prstGeom>
          <a:solidFill>
            <a:srgbClr val="36D3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8046720" y="4032504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96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E696"/>
                </a:solidFill>
                <a:latin typeface="Arial"/>
                <a:ea typeface="Arial"/>
                <a:cs typeface="Arial"/>
                <a:sym typeface="Arial"/>
              </a:rPr>
              <a:t>Prediabetes: 4,631 (11.6%)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9784079" y="403250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FFDD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87FFDD"/>
                </a:solidFill>
                <a:latin typeface="Arial"/>
                <a:ea typeface="Arial"/>
                <a:cs typeface="Arial"/>
                <a:sym typeface="Arial"/>
              </a:rPr>
              <a:t>Diabetes: 35,346 (88.4%)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046720" y="4270248"/>
            <a:ext cx="3401567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Diabetes is 7.6× prediabetes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046720" y="4443984"/>
            <a:ext cx="3401567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D8C"/>
              </a:buClr>
              <a:buSzPts val="760"/>
              <a:buFont typeface="Arial"/>
              <a:buNone/>
            </a:pPr>
            <a:r>
              <a:rPr lang="en-US" sz="760" b="1" i="0" u="none" strike="noStrike" cap="none">
                <a:solidFill>
                  <a:srgbClr val="FFDD8C"/>
                </a:solidFill>
                <a:latin typeface="Arial"/>
                <a:ea typeface="Arial"/>
                <a:cs typeface="Arial"/>
                <a:sym typeface="Arial"/>
              </a:rPr>
              <a:t>Use Diabetes_012 for EDA/audit; binary target for screening.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C2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Dataset, EDA &amp; Univariate Findings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457200" y="70408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Raw shape preserved; no missing-data removal; strongest individual EDA signals identified.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38912" y="126187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253,680×22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438912" y="16276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Raw dataset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2377440" y="126187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2377440" y="16276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Rows removed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4315968" y="126187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315968" y="16276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Predictors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6254496" y="126187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15.76%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6254496" y="16276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Positive class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7909560" y="1261872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50"/>
              <a:buFont typeface="Arial"/>
              <a:buNone/>
            </a:pPr>
            <a:r>
              <a:rPr lang="en-US" sz="185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+1 / −1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7909560" y="1627632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Leakage-safe target handling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9829800" y="1261872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None &gt; 0.80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829800" y="1627632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Severe pair correlation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5488" y="2084831"/>
            <a:ext cx="5577840" cy="4160520"/>
          </a:xfrm>
          <a:prstGeom prst="roundRect">
            <a:avLst>
              <a:gd name="adj" fmla="val 16667"/>
            </a:avLst>
          </a:prstGeom>
          <a:solidFill>
            <a:srgbClr val="143248"/>
          </a:solidFill>
          <a:ln w="10150" cap="flat" cmpd="sng">
            <a:solidFill>
              <a:srgbClr val="2A526C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199632" y="2084831"/>
            <a:ext cx="5513832" cy="4160520"/>
          </a:xfrm>
          <a:prstGeom prst="roundRect">
            <a:avLst>
              <a:gd name="adj" fmla="val 16667"/>
            </a:avLst>
          </a:prstGeom>
          <a:solidFill>
            <a:srgbClr val="143248"/>
          </a:solidFill>
          <a:ln w="10150" cap="flat" cmpd="sng">
            <a:solidFill>
              <a:srgbClr val="2A526C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94944" y="2267712"/>
            <a:ext cx="5074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2C8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8D2C8"/>
                </a:solidFill>
                <a:latin typeface="Arial"/>
                <a:ea typeface="Arial"/>
                <a:cs typeface="Arial"/>
                <a:sym typeface="Arial"/>
              </a:rPr>
              <a:t>Top Associations with Diabetes_Binary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13232" y="2852928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GenHlth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920240" y="2889504"/>
            <a:ext cx="3200400" cy="137160"/>
          </a:xfrm>
          <a:prstGeom prst="rect">
            <a:avLst/>
          </a:prstGeom>
          <a:solidFill>
            <a:srgbClr val="2B4E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920240" y="2889504"/>
            <a:ext cx="3200399" cy="13716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193792" y="285292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0.301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713232" y="3291840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HighBP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920240" y="3328416"/>
            <a:ext cx="3200400" cy="137160"/>
          </a:xfrm>
          <a:prstGeom prst="rect">
            <a:avLst/>
          </a:prstGeom>
          <a:solidFill>
            <a:srgbClr val="2B4E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920240" y="3328416"/>
            <a:ext cx="2870790" cy="13716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193792" y="329184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0.270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13232" y="3730752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920240" y="3767328"/>
            <a:ext cx="3200400" cy="137160"/>
          </a:xfrm>
          <a:prstGeom prst="rect">
            <a:avLst/>
          </a:prstGeom>
          <a:solidFill>
            <a:srgbClr val="2B4E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920240" y="3767328"/>
            <a:ext cx="2381693" cy="13716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5193792" y="37307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0.224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713232" y="4169664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DiffWalk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920240" y="4206240"/>
            <a:ext cx="3200400" cy="137160"/>
          </a:xfrm>
          <a:prstGeom prst="rect">
            <a:avLst/>
          </a:prstGeom>
          <a:solidFill>
            <a:srgbClr val="2B4E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920240" y="4206240"/>
            <a:ext cx="2360427" cy="13716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5193792" y="41696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0.222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713232" y="4608576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HighChol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920240" y="4645152"/>
            <a:ext cx="3200400" cy="137160"/>
          </a:xfrm>
          <a:prstGeom prst="rect">
            <a:avLst/>
          </a:prstGeom>
          <a:solidFill>
            <a:srgbClr val="2B4E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920240" y="4645152"/>
            <a:ext cx="2232837" cy="13716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5193792" y="4608576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0.210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713232" y="5047488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920240" y="5084064"/>
            <a:ext cx="3200400" cy="137160"/>
          </a:xfrm>
          <a:prstGeom prst="rect">
            <a:avLst/>
          </a:prstGeom>
          <a:solidFill>
            <a:srgbClr val="2B4E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920240" y="5084064"/>
            <a:ext cx="1977655" cy="137160"/>
          </a:xfrm>
          <a:prstGeom prst="rect">
            <a:avLst/>
          </a:prstGeom>
          <a:solidFill>
            <a:srgbClr val="48D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5193792" y="504748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0.186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713232" y="553212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Higher bar = stronger individual association with Diabetes_binary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713232" y="5879592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930"/>
              <a:buFont typeface="Arial"/>
              <a:buNone/>
            </a:pPr>
            <a:r>
              <a:rPr lang="en-US" sz="930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Univariate EDA shows relative signal strength; it does not establish independent predictive effects.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428232" y="22677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2C8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8D2C8"/>
                </a:solidFill>
                <a:latin typeface="Arial"/>
                <a:ea typeface="Arial"/>
                <a:cs typeface="Arial"/>
                <a:sym typeface="Arial"/>
              </a:rPr>
              <a:t>EDA quality &amp; anomaly findings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94360" y="6327648"/>
            <a:ext cx="10972800" cy="301752"/>
          </a:xfrm>
          <a:prstGeom prst="roundRect">
            <a:avLst>
              <a:gd name="adj" fmla="val 16667"/>
            </a:avLst>
          </a:prstGeom>
          <a:solidFill>
            <a:srgbClr val="1432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731520" y="6373368"/>
            <a:ext cx="10698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18"/>
              <a:buFont typeface="Arial"/>
              <a:buNone/>
            </a:pPr>
            <a:r>
              <a:rPr lang="en-US" sz="1019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Final modelling set: 21 predictors + 1 binary target  •  Positive screening class: 15.76%  •  253,680 records retained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646920" y="656539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4EC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DAE4EC"/>
                </a:solidFill>
                <a:latin typeface="Arial"/>
                <a:ea typeface="Arial"/>
                <a:cs typeface="Arial"/>
                <a:sym typeface="Arial"/>
              </a:rPr>
              <a:t>Diabetes Health Indicators Screening  •  2/5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6419088" y="2724912"/>
            <a:ext cx="5074920" cy="324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Missing values: none; no imputation was needed.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Rows removed: 0; no deletion for missing data or invalid ranges.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Exact duplicate removal: not evidenced in this EDA run.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Columns: Diabetes_binary was added for screening (+1); Diabetes_012 was retained for EDA/audit but excluded from model predictors (−1) to prevent leakage.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BMI, MentHlth and PhysHlth contain skewed/extreme values, treated as plausible/valid observations.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No outlier rows removed and no skew-correction transformation applied.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C2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D3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48D3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384048" y="256032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300"/>
              <a:buFont typeface="Arial"/>
              <a:buNone/>
            </a:pPr>
            <a:r>
              <a:rPr lang="en-US" sz="23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Preprocessing, feature treatment &amp; data split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393192" y="69494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EDA findings are carried into modelling without unnecessary transformations.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02920" y="1188720"/>
            <a:ext cx="3657600" cy="3401568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9525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704088" y="1325880"/>
            <a:ext cx="32552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1  EDA → preprocessing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704088" y="1700784"/>
            <a:ext cx="3255264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BMI, MentHlth and PhysHlth were skewed/extreme but judged plausible/valid.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No outlier rows were removed.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No imputation was required; no skew-correction transformation was applied.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Diabetes_012 is retained for EDA/audit but excluded from model predictors to prevent leakage.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315968" y="1188720"/>
            <a:ext cx="3657600" cy="3401568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9525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4517136" y="1325880"/>
            <a:ext cx="32552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2  Numerical &amp; categorical treatment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517136" y="1700784"/>
            <a:ext cx="3255264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All 22 source fields are already numeric.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17 predictors are categorical/ordinal-like; 4 are continuous-ish: BMI, MentHlth, PhysHlth, Age.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No one-hot encoding or ordinal encoder is used.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No standardisation / scaling is applied.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Features remain in their stored numeric coding.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129016" y="1188720"/>
            <a:ext cx="3657600" cy="3401568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9525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8330184" y="1325880"/>
            <a:ext cx="32552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3  Split &amp; validation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8330184" y="1700784"/>
            <a:ext cx="3255264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Stratified 80% train / 20% held-out test.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No fixed 80% / 10% / 10% split in this Logistic Regression workflow.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Stratified 5-fold CV is performed within the 80% training set.</a:t>
            </a:r>
            <a:b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The 20% test set stays untouched until final evaluation.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94360" y="4846320"/>
            <a:ext cx="10972800" cy="475488"/>
          </a:xfrm>
          <a:prstGeom prst="roundRect">
            <a:avLst>
              <a:gd name="adj" fmla="val 16667"/>
            </a:avLst>
          </a:prstGeom>
          <a:solidFill>
            <a:srgbClr val="163349"/>
          </a:solidFill>
          <a:ln w="9525" cap="flat" cmpd="sng">
            <a:solidFill>
              <a:srgbClr val="48D3C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758952" y="4937759"/>
            <a:ext cx="10643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10"/>
              <a:buFont typeface="Arial"/>
              <a:buNone/>
            </a:pPr>
            <a:r>
              <a:rPr lang="en-US" sz="121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Training flow: numeric-coded predictors → stratified 80/20 split → 5-fold CV on training set → Logistic Regression tuning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594360" y="557784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20"/>
              <a:buFont typeface="Arial"/>
              <a:buNone/>
            </a:pPr>
            <a:r>
              <a:rPr lang="en-US" sz="132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94360" y="587959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 workflow prioritises leakage control, class-imbalance handling and model tuning rather than altering plausible observations simply because they are skewed.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594360" y="6309360"/>
            <a:ext cx="10972800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968"/>
              <a:buFont typeface="Arial"/>
              <a:buNone/>
            </a:pPr>
            <a:r>
              <a:rPr lang="en-US" sz="96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Transcript: EDA found skewed or extreme BMI, MentHlth and PhysHlth values, but these were retained as plausible observations. No encoder, scaler or skew transformation is applied. The modelling experiment uses a stratified 80/20 split, with stratified 5-fold CV inside the training set and a fully held-out 20% test 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9646920" y="654710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Diabetes Health Indicators Screening  •  3/5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C2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D3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48D3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384048" y="2560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Logistic Regression Model A — Training &amp; Tuning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393192" y="69494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Model selection uses training-only cross-validation; the test set is reserved for the final check.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66928" y="3401568"/>
            <a:ext cx="5257800" cy="2240280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66928" y="36027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20"/>
              <a:buFont typeface="Arial"/>
              <a:buNone/>
            </a:pPr>
            <a:r>
              <a:rPr lang="en-US" sz="132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Optimisation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713232" y="3968496"/>
            <a:ext cx="49834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Logistic Regression; L2 penalty; lbfgs solver.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C grid: 0.001 → 100.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Compare class_weight=None vs. balanced.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Rank candidates by CV PR-AUC first, then ROC-AUC.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Tune threshold 0.05–0.95 using training-only OOF probabilities.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236208" y="3401568"/>
            <a:ext cx="5394960" cy="2240280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6291072" y="36027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20"/>
              <a:buFont typeface="Arial"/>
              <a:buNone/>
            </a:pPr>
            <a:r>
              <a:rPr lang="en-US" sz="132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What the tuning found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6437376" y="3968496"/>
            <a:ext cx="49834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class_weight='balanced' materially improves minority-class detection.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At the default threshold, recall rises from ~18% to ~76% after balancing.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C tuning is secondary; threshold tuning selects the precision–recall operating point.</a:t>
            </a:r>
            <a:b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• Selected settings: C = 100; threshold = 0.59.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94360" y="5650992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749808" y="5806440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Arial"/>
              <a:buNone/>
            </a:pPr>
            <a:r>
              <a:rPr lang="en-US" sz="106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Key training finding: class imbalance, not regularisation strength, is the dominant tuning issue for this screening task.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594360" y="61722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Leakage control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1965960" y="6172200"/>
            <a:ext cx="9418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Threshold selection uses training-only OOF probabilities, while the 20% test set remains unseen until final evaluation.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594360" y="6382512"/>
            <a:ext cx="10972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930"/>
              <a:buFont typeface="Arial"/>
              <a:buNone/>
            </a:pPr>
            <a:r>
              <a:rPr lang="en-US" sz="93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Transcript: Model A uses L2 Logistic Regression with lbfgs. C values from 0.001 to 100 and class weighting are compared using stratified 5-fold CV, ranked by PR-AUC then ROC-AUC. Thresholds from 0.05 to 0.95 are tested using training-only OOF probabilities. Balanced class weight is the strongest tuning lever; C=100 and threshold 0.59 are selected.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9646920" y="654710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730"/>
              <a:buFont typeface="Arial"/>
              <a:buNone/>
            </a:pPr>
            <a:r>
              <a:rPr lang="en-US" sz="73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Diabetes Health Indicators Screening  •  4/5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658368" y="11521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Tuning parameter impact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25856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2121408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302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3515868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04748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4910327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44194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6304788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783640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7699248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923086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9093708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0625328" y="1600200"/>
            <a:ext cx="7315" cy="1298448"/>
          </a:xfrm>
          <a:prstGeom prst="rect">
            <a:avLst/>
          </a:prstGeom>
          <a:solidFill>
            <a:srgbClr val="3453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10488168" y="28895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0.6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658368" y="1645920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Class weight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258568" y="1659636"/>
            <a:ext cx="8366760" cy="173736"/>
          </a:xfrm>
          <a:prstGeom prst="rect">
            <a:avLst/>
          </a:prstGeom>
          <a:solidFill>
            <a:srgbClr val="2243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258568" y="1659636"/>
            <a:ext cx="8059978" cy="173736"/>
          </a:xfrm>
          <a:prstGeom prst="rect">
            <a:avLst/>
          </a:prstGeom>
          <a:solidFill>
            <a:srgbClr val="5CD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10735056" y="1632204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0.578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658368" y="1956816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2258568" y="1970532"/>
            <a:ext cx="8366760" cy="173736"/>
          </a:xfrm>
          <a:prstGeom prst="rect">
            <a:avLst/>
          </a:prstGeom>
          <a:solidFill>
            <a:srgbClr val="2243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258568" y="1970532"/>
            <a:ext cx="1450238" cy="173736"/>
          </a:xfrm>
          <a:prstGeom prst="rect">
            <a:avLst/>
          </a:prstGeom>
          <a:solidFill>
            <a:srgbClr val="5CD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10735056" y="194310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0.104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658368" y="2267712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Data profile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258568" y="2281428"/>
            <a:ext cx="8366760" cy="173736"/>
          </a:xfrm>
          <a:prstGeom prst="rect">
            <a:avLst/>
          </a:prstGeom>
          <a:solidFill>
            <a:srgbClr val="2243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258568" y="2281428"/>
            <a:ext cx="111556" cy="173736"/>
          </a:xfrm>
          <a:prstGeom prst="rect">
            <a:avLst/>
          </a:prstGeom>
          <a:solidFill>
            <a:srgbClr val="5CD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10735056" y="2253996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0.008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658368" y="2578608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C tuning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258568" y="2592324"/>
            <a:ext cx="8366760" cy="173736"/>
          </a:xfrm>
          <a:prstGeom prst="rect">
            <a:avLst/>
          </a:prstGeom>
          <a:solidFill>
            <a:srgbClr val="2243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2258568" y="2592324"/>
            <a:ext cx="97612" cy="173736"/>
          </a:xfrm>
          <a:prstGeom prst="rect">
            <a:avLst/>
          </a:prstGeom>
          <a:solidFill>
            <a:srgbClr val="5CD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10735056" y="2564891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0.007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5001768" y="30906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D2E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BED2E0"/>
                </a:solidFill>
                <a:latin typeface="Arial"/>
                <a:ea typeface="Arial"/>
                <a:cs typeface="Arial"/>
                <a:sym typeface="Arial"/>
              </a:rPr>
              <a:t>Relative tuning impact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13232" y="3246120"/>
            <a:ext cx="10744200" cy="274320"/>
          </a:xfrm>
          <a:prstGeom prst="roundRect">
            <a:avLst>
              <a:gd name="adj" fmla="val 16667"/>
            </a:avLst>
          </a:prstGeom>
          <a:solidFill>
            <a:srgbClr val="1B3D53"/>
          </a:solidFill>
          <a:ln w="9525" cap="flat" cmpd="sng">
            <a:solidFill>
              <a:srgbClr val="3D6885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73150" tIns="0" rIns="7315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8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BF2F8"/>
                </a:solidFill>
                <a:latin typeface="Arial"/>
                <a:ea typeface="Arial"/>
                <a:cs typeface="Arial"/>
                <a:sym typeface="Arial"/>
              </a:rPr>
              <a:t>The visual gap is the key message: class weighting has by far the largest tuning impact.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437376" y="5102352"/>
            <a:ext cx="4983480" cy="530352"/>
          </a:xfrm>
          <a:prstGeom prst="roundRect">
            <a:avLst>
              <a:gd name="adj" fmla="val 16667"/>
            </a:avLst>
          </a:prstGeom>
          <a:solidFill>
            <a:srgbClr val="1D435B"/>
          </a:solidFill>
          <a:ln w="10150" cap="flat" cmpd="sng">
            <a:solidFill>
              <a:srgbClr val="356884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09725" tIns="45700" rIns="109725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2F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BF2F7"/>
                </a:solidFill>
                <a:latin typeface="Arial"/>
                <a:ea typeface="Arial"/>
                <a:cs typeface="Arial"/>
                <a:sym typeface="Arial"/>
              </a:rPr>
              <a:t>Finding: The near-unchanged PR-AUC and ROC-AUC indicate that class weighting mainly changed the classification operating point rather than materially improving the model's ability to rank positive cases above negative cases.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C2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D3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48D3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384048" y="25603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Optimized Model A — Final Evaluation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393192" y="694944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Balanced Logistic Regression for diabetes screening; test set used only after model selection.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02920" y="1143000"/>
            <a:ext cx="2057400" cy="10789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640080" y="1316736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018"/>
              <a:buFont typeface="Arial"/>
              <a:buNone/>
            </a:pPr>
            <a:r>
              <a:rPr lang="en-US" sz="1019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640080" y="1645920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743200" y="1143000"/>
            <a:ext cx="1325880" cy="10789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2880360" y="131673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018"/>
              <a:buFont typeface="Arial"/>
              <a:buNone/>
            </a:pPr>
            <a:r>
              <a:rPr lang="en-US" sz="1019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2880360" y="164592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343400" y="1143000"/>
            <a:ext cx="1828800" cy="10789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4480560" y="131673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018"/>
              <a:buFont typeface="Arial"/>
              <a:buNone/>
            </a:pPr>
            <a:r>
              <a:rPr lang="en-US" sz="1019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CLASS WEIGHT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4480560" y="164592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balanced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355080" y="1143000"/>
            <a:ext cx="2514600" cy="10789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492240" y="1316736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018"/>
              <a:buFont typeface="Arial"/>
              <a:buNone/>
            </a:pPr>
            <a:r>
              <a:rPr lang="en-US" sz="1019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PENALTY / SOLVER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6492240" y="1645920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L2 / lbfgs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9144000" y="1143000"/>
            <a:ext cx="2103120" cy="10789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9281160" y="1316736"/>
            <a:ext cx="182879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018"/>
              <a:buFont typeface="Arial"/>
              <a:buNone/>
            </a:pPr>
            <a:r>
              <a:rPr lang="en-US" sz="1019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9281160" y="1645920"/>
            <a:ext cx="182879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502920" y="24505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0.818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502920" y="2788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2423160" y="24505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0.433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2423160" y="2788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PR-AUC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4343400" y="24505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0.657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4343400" y="2788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6263640" y="24505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0.381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263640" y="2788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8183879" y="24505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0.482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183879" y="2788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10104120" y="24505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0.728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10104120" y="2788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Bal. Acc.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02920" y="3218688"/>
            <a:ext cx="5486400" cy="19933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704088" y="3410712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20"/>
              <a:buFont typeface="Arial"/>
              <a:buNone/>
            </a:pPr>
            <a:r>
              <a:rPr lang="en-US" sz="132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Held-out confusion matrix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704088" y="3776472"/>
            <a:ext cx="507492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                 Pred 0     Pred 1</a:t>
            </a:r>
            <a:b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Actual 0       34,202       8,539</a:t>
            </a:r>
            <a:b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Actual 1         2,745       5,250</a:t>
            </a:r>
            <a:b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TP = 5,250   FN = 2,745   FP = 8,539   TN = 34,202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172200" y="3218688"/>
            <a:ext cx="5486400" cy="1993392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6373368" y="3410712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320"/>
              <a:buFont typeface="Arial"/>
              <a:buNone/>
            </a:pPr>
            <a:r>
              <a:rPr lang="en-US" sz="132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Interpretation for screening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6373368" y="3776472"/>
            <a:ext cx="507492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On 50,736 unseen test records, the model identified 5,250 of 7,995 positive cases (65.7% recall).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However, 2,745 positive cases were missed, while 8,539 of the 13,789 flagged cases were false positives (38.1% precision).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ROC-AUC 0.818 passes the ≥0.75 quality gate.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This is a screening-support model, not a diagnostic tool.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94360" y="5468112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122D42"/>
          </a:solidFill>
          <a:ln w="10150" cap="flat" cmpd="sng">
            <a:solidFill>
              <a:srgbClr val="2A4B60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777240" y="557784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60"/>
              <a:buFont typeface="Arial"/>
              <a:buNone/>
            </a:pPr>
            <a:r>
              <a:rPr lang="en-US" sz="106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Decision: Model A is a viable baseline, but it is not yet the champion model.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594360" y="583387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D3C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48D3C6"/>
                </a:solidFill>
                <a:latin typeface="Arial"/>
                <a:ea typeface="Arial"/>
                <a:cs typeface="Arial"/>
                <a:sym typeface="Arial"/>
              </a:rPr>
              <a:t>Next step &amp; limitation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594360" y="6043292"/>
            <a:ext cx="109728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Compare Model A with XGBoost on the same held-out test protocol before final champion selection.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609447" y="6230673"/>
            <a:ext cx="10972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Transcript: The final Model A is balanced Logistic Regression with C=100 and threshold 0.59. On the held-out test set it achieves ROC-AUC 0.818, PR-AUC 0.433, recall 0.657, precision 0.381, F1 0.482 and balanced accuracy 0.728. It correctly identifies 5,250 of 7,995 positive screening cases; 2,745 positive cases (34.3%) are not captured. It remains a screening model and must be compared with XGBoost before promotion.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9646920" y="654710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D6DE"/>
              </a:buClr>
              <a:buSzPts val="730"/>
              <a:buFont typeface="Arial"/>
              <a:buNone/>
            </a:pPr>
            <a:r>
              <a:rPr lang="en-US" sz="730" b="0" i="0" u="none" strike="noStrike" cap="none">
                <a:solidFill>
                  <a:srgbClr val="CDD6DE"/>
                </a:solidFill>
                <a:latin typeface="Arial"/>
                <a:ea typeface="Arial"/>
                <a:cs typeface="Arial"/>
                <a:sym typeface="Arial"/>
              </a:rPr>
              <a:t>Diabetes Health Indicators Screening  •  5/5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382000" y="2103120"/>
            <a:ext cx="304800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6000"/>
              <a:buFont typeface="Cambria"/>
              <a:buNone/>
            </a:pPr>
            <a:r>
              <a:rPr lang="en-US" sz="160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38200" y="1600200"/>
            <a:ext cx="838200" cy="685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38200" y="1918080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38200" y="2377440"/>
            <a:ext cx="6172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Preparation &amp; Modelling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38200" y="4160520"/>
            <a:ext cx="6019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Feature engineering and bias mitigation, then baseline versus challenger tuning and the champion decision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38200" y="493776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F4F5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38200" y="4937760"/>
            <a:ext cx="45720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066800" y="506577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Fong Siang Yi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66800" y="5468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Data &amp; EDA * Model B - XGBoost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SECTION 2 - DATA PREPARATION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48640" y="5760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2300"/>
              <a:buFont typeface="Cambria"/>
              <a:buNone/>
            </a:pPr>
            <a:r>
              <a:rPr lang="en-US" sz="2300" b="1" i="0" u="none" strike="noStrike" cap="none">
                <a:solidFill>
                  <a:srgbClr val="1A2B2E"/>
                </a:solidFill>
                <a:latin typeface="Cambria"/>
                <a:ea typeface="Cambria"/>
                <a:cs typeface="Cambria"/>
                <a:sym typeface="Cambria"/>
              </a:rPr>
              <a:t>EDA &amp; Feature Engineering: From Insight to Model-Ready Data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88720"/>
            <a:ext cx="41605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0"/>
          <p:cNvSpPr/>
          <p:nvPr/>
        </p:nvSpPr>
        <p:spPr>
          <a:xfrm>
            <a:off x="457200" y="4096512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B3D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21792" y="416966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1.1%  -&gt;  61.2%  (56x)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21792" y="4480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BMI x GenHlth prevalence compounds - not additive. The strongest single finding in the EDA.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892040" y="118872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001768" y="1261872"/>
            <a:ext cx="1261872" cy="49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253,680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001768" y="1726387"/>
            <a:ext cx="1261872" cy="4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respondents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(BRFSS 2015)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64808" y="118872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574536" y="1261872"/>
            <a:ext cx="1261872" cy="49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21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574536" y="1726387"/>
            <a:ext cx="1261872" cy="4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raw indicators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037576" y="118872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8147304" y="1261872"/>
            <a:ext cx="1261872" cy="49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5.34 : 1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8147304" y="1726387"/>
            <a:ext cx="1261872" cy="4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9610344" y="118872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9720072" y="1261872"/>
            <a:ext cx="1261872" cy="49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9720072" y="1726387"/>
            <a:ext cx="1261872" cy="4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engineered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892040" y="2286000"/>
            <a:ext cx="6748272" cy="960120"/>
          </a:xfrm>
          <a:prstGeom prst="roundRect">
            <a:avLst>
              <a:gd name="adj" fmla="val 7619"/>
            </a:avLst>
          </a:prstGeom>
          <a:solidFill>
            <a:srgbClr val="FDF0E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074920" y="2359152"/>
            <a:ext cx="6382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FEATURE ENGINEERING - VALIDATED, NOT ASSUMED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074920" y="2633472"/>
            <a:ext cx="63825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Comorbidity_Score (r=0.347) and BMI x HighBP interaction (r=0.306) both beat the strongest raw feature (GenHlth, r=0.301) - direct evidence the engineered composites add genuine signal.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892040" y="3401568"/>
            <a:ext cx="67482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DATA BIAS &amp; MITIGATION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892040" y="368503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B3D42"/>
                </a:solidFill>
                <a:latin typeface="Calibri"/>
                <a:ea typeface="Calibri"/>
                <a:cs typeface="Calibri"/>
                <a:sym typeface="Calibri"/>
              </a:rPr>
              <a:t>Non-response bias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858000" y="368503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BRFSS silently excludes non-answers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235440" y="36850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Disclosed as a labelled limitation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892040" y="41056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B3D42"/>
                </a:solidFill>
                <a:latin typeface="Calibri"/>
                <a:ea typeface="Calibri"/>
                <a:cs typeface="Calibri"/>
                <a:sym typeface="Calibri"/>
              </a:rPr>
              <a:t>Duplicate-profile bias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858000" y="410565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23,899 duplicates, ~99% healthy class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9235440" y="4105656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Duplicate-safe split, not deletion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892040" y="45262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B3D42"/>
                </a:solidFill>
                <a:latin typeface="Calibri"/>
                <a:ea typeface="Calibri"/>
                <a:cs typeface="Calibri"/>
                <a:sym typeface="Calibri"/>
              </a:rPr>
              <a:t>Subgroup outcome gaps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858000" y="452628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Prevalence differs by Sex/Age/Income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9235440" y="452628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Sample size confirmed before fairness testing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57200" y="507492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0B3D4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13232" y="5509260"/>
            <a:ext cx="548640" cy="548640"/>
          </a:xfrm>
          <a:prstGeom prst="ellipse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6676" y="56327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0"/>
          <p:cNvSpPr/>
          <p:nvPr/>
        </p:nvSpPr>
        <p:spPr>
          <a:xfrm>
            <a:off x="1508760" y="5221224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GOVERNANCE FINDING - VERIFIED AGAINST THE MODELLING NOTEBOOK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1508760" y="5513832"/>
            <a:ext cx="9966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trained models currently use only the 21 raw features - none of the 7 validated engineered features (incl. Comorbidity_Score and BMI x HighBP, which each outperform every raw feature) reach either model. This is the single highest-value next step identified for this project.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SECTION 3 - MODELLING &amp; EXPERIMENTS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A2B2E"/>
                </a:solidFill>
                <a:latin typeface="Cambria"/>
                <a:ea typeface="Cambria"/>
                <a:cs typeface="Cambria"/>
                <a:sym typeface="Cambria"/>
              </a:rPr>
              <a:t>Baseline, Hypothesis &amp; Tuning Strategy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48640" y="1234440"/>
            <a:ext cx="3513221" cy="2057400"/>
          </a:xfrm>
          <a:prstGeom prst="roundRect">
            <a:avLst>
              <a:gd name="adj" fmla="val 4444"/>
            </a:avLst>
          </a:prstGeom>
          <a:solidFill>
            <a:srgbClr val="F4F8F8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822960" y="1435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822960" y="14356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Model A - Logistic Regression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822960" y="214884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Linear combination of risk factors is sufficient.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22960" y="2587752"/>
            <a:ext cx="64008" cy="64008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987552" y="2478024"/>
            <a:ext cx="46360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12 tuning candidates (C x class_weight)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822960" y="2971800"/>
            <a:ext cx="64008" cy="64008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987552" y="2862072"/>
            <a:ext cx="2188785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Regularisation barely moves CV PR-AUC (0.0036 spread across 4 orders of magnitude)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261585" y="1236846"/>
            <a:ext cx="3511296" cy="2057400"/>
          </a:xfrm>
          <a:prstGeom prst="roundRect">
            <a:avLst>
              <a:gd name="adj" fmla="val 4444"/>
            </a:avLst>
          </a:prstGeom>
          <a:solidFill>
            <a:srgbClr val="F4F8F8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535905" y="143801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4535905" y="143801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535905" y="178548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Model B - XGBoost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535905" y="2151246"/>
            <a:ext cx="30969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Non-linear interactions (BMI x HighBP) need a tree ensemble.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4535905" y="2590158"/>
            <a:ext cx="64008" cy="640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4700497" y="2480430"/>
            <a:ext cx="46360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30 candidates: 5 structures x 6 class weights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535905" y="2974206"/>
            <a:ext cx="64008" cy="640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700497" y="2864478"/>
            <a:ext cx="299971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Revised search - excludes the full imbalance ratio to avoid over-trading precision for recall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39" y="3429000"/>
            <a:ext cx="7224241" cy="29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/>
          <p:nvPr/>
        </p:nvSpPr>
        <p:spPr>
          <a:xfrm>
            <a:off x="548640" y="60807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Cross-validated score by metric, top near-best XGBoost configurations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7955280" y="1234440"/>
            <a:ext cx="3685032" cy="5166360"/>
          </a:xfrm>
          <a:prstGeom prst="roundRect">
            <a:avLst>
              <a:gd name="adj" fmla="val 2481"/>
            </a:avLst>
          </a:prstGeom>
          <a:solidFill>
            <a:srgbClr val="FDF0E1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8211312" y="1463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1896" y="15636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"/>
          <p:cNvSpPr/>
          <p:nvPr/>
        </p:nvSpPr>
        <p:spPr>
          <a:xfrm>
            <a:off x="8851392" y="15087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Champion: XGBoost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8211312" y="21488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HARD GATES - ALL PASSED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211312" y="245059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- Checksum-verified exact-row comparison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8211312" y="279806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- Quality gate: test ROC-AUC &gt;= 0.75 (0.825)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8211312" y="3145536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- SHAP explainability logged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1"/>
          <p:cNvCxnSpPr/>
          <p:nvPr/>
        </p:nvCxnSpPr>
        <p:spPr>
          <a:xfrm>
            <a:off x="8211312" y="3538728"/>
            <a:ext cx="3291840" cy="0"/>
          </a:xfrm>
          <a:prstGeom prst="straightConnector1">
            <a:avLst/>
          </a:prstGeom>
          <a:noFill/>
          <a:ln w="12700" cap="flat" cmpd="sng">
            <a:solidFill>
              <a:srgbClr val="F0D5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9" name="Google Shape;399;p11"/>
          <p:cNvSpPr/>
          <p:nvPr/>
        </p:nvSpPr>
        <p:spPr>
          <a:xfrm>
            <a:off x="8211312" y="363016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PRIMARY METRIC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8211312" y="3904488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PR-AUC predeclared before results seen - XGBoost +0.032 vs. baseline.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11"/>
          <p:cNvCxnSpPr/>
          <p:nvPr/>
        </p:nvCxnSpPr>
        <p:spPr>
          <a:xfrm>
            <a:off x="8211312" y="4498848"/>
            <a:ext cx="3291840" cy="0"/>
          </a:xfrm>
          <a:prstGeom prst="straightConnector1">
            <a:avLst/>
          </a:prstGeom>
          <a:noFill/>
          <a:ln w="12700" cap="flat" cmpd="sng">
            <a:solidFill>
              <a:srgbClr val="F0D5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" name="Google Shape;402;p11"/>
          <p:cNvSpPr/>
          <p:nvPr/>
        </p:nvSpPr>
        <p:spPr>
          <a:xfrm>
            <a:off x="8211312" y="45902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DISCLOSED, NOT HIDDEN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8211312" y="4864608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Recall, F2, FNR and balanced accuracy all favour the baseline - reported openly as a real trade-off, not reframed as a win.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MODEL COMPARISON - SYSTEMATIC 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2B2E"/>
                </a:solidFill>
                <a:latin typeface="Cambria"/>
                <a:ea typeface="Cambria"/>
                <a:cs typeface="Cambria"/>
                <a:sym typeface="Cambria"/>
              </a:rPr>
              <a:t>Predictive Performance &amp; Error Behaviour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1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234440"/>
            <a:ext cx="557784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2"/>
          <p:cNvSpPr/>
          <p:nvPr/>
        </p:nvSpPr>
        <p:spPr>
          <a:xfrm>
            <a:off x="548640" y="400507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Moving LR -&gt; XGBoost trades 1,325 fewer false positives for 282 more false negatives.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2" name="Google Shape;412;p12"/>
          <p:cNvGraphicFramePr/>
          <p:nvPr/>
        </p:nvGraphicFramePr>
        <p:xfrm>
          <a:off x="6263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{D982CFB8-9FF7-495E-9259-48C48538E348}</a:tableStyleId>
              </a:tblPr>
              <a:tblGrid>
                <a:gridCol w="246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3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 (primary)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A7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7A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71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887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A7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7A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A7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7A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Specificity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A7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7A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A7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7A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3" name="Google Shape;413;p12"/>
          <p:cNvSpPr/>
          <p:nvPr/>
        </p:nvSpPr>
        <p:spPr>
          <a:xfrm>
            <a:off x="6263640" y="370332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DF0E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400800" y="3749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Why it matters: at ~5.34:1 imbalance, PR-AUC is the diagnostic metric - ROC-AUC (0.818 vs 0.825) looks deceptively similar; accuracy would be actively misleading.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548640" y="438912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0B3D4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1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0110" y="47205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1344168" y="457200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Better at positive class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777240" y="507492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 - recall 0.657 vs. 0.621; catches 282 more of the 7,995 actual positives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434840" y="4617720"/>
            <a:ext cx="457200" cy="457200"/>
          </a:xfrm>
          <a:prstGeom prst="ellipse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1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7710" y="47205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2"/>
          <p:cNvSpPr/>
          <p:nvPr/>
        </p:nvSpPr>
        <p:spPr>
          <a:xfrm>
            <a:off x="5001768" y="457200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Fewer costly errors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434840" y="507492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Depends on cost assumption: LR has fewer FN (costlier, per Section 1); XGBoost has fewer FP - a real trade, not a win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8092440" y="4617720"/>
            <a:ext cx="457200" cy="457200"/>
          </a:xfrm>
          <a:prstGeom prst="ellipse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1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5310" y="47205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2"/>
          <p:cNvSpPr/>
          <p:nvPr/>
        </p:nvSpPr>
        <p:spPr>
          <a:xfrm>
            <a:off x="8659368" y="457200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 trade-off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8092440" y="5074920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XGBoost's PR-AUC curve sits at/above LR's across all thresholds - but LR still wins at each model's own chosen operating point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3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MODEL COMPARISON - SYSTEMATIC 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2500"/>
              <a:buFont typeface="Cambria"/>
              <a:buNone/>
            </a:pPr>
            <a:r>
              <a:rPr lang="en-US" sz="2500" b="1" i="0" u="none" strike="noStrike" cap="none">
                <a:solidFill>
                  <a:srgbClr val="1A2B2E"/>
                </a:solidFill>
                <a:latin typeface="Cambria"/>
                <a:ea typeface="Cambria"/>
                <a:cs typeface="Cambria"/>
                <a:sym typeface="Cambria"/>
              </a:rPr>
              <a:t>Model Characteristics: Trade-offs Beyond the Numbers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4" name="Google Shape;434;p13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{D982CFB8-9FF7-495E-9259-48C48538E348}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Characteristic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3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Interpretability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- signed coefficients read directly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- needs SHAP post-hoc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Complexity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hyperparameters, 12 candidates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hyperparameters, 30 candidates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Computational cost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fit+eval: 10.4s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fit+eval: 66.0s (~6.3x)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Feature-relationship sensitivity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Assumes linear, additive effects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Learns interactions automatically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Non-linear modelling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natively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(motivated by BMI x HighBP finding)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 / maintenance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 artifact, trivial to audit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A2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Heavier artifact + SHAP dependency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A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35" name="Google Shape;43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1234440"/>
            <a:ext cx="4023360" cy="245059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/>
          <p:nvPr/>
        </p:nvSpPr>
        <p:spPr>
          <a:xfrm>
            <a:off x="7635240" y="3730752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Surprise: XGBoost's mean per-candidate CV time (20.2s) is shorter than LR's (33.0s) - the opposite of the usual assumption.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7635240" y="4526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0B3D4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7909560" y="4663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NO UNIVERSAL WINNER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7909560" y="4956048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characteristic is a genuine trade-off a deployment decision must weigh - not a checklist where more complexity automatically wins.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SECTION 5 - TEST REPORT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1A2B2E"/>
                </a:solidFill>
                <a:latin typeface="Cambria"/>
                <a:ea typeface="Cambria"/>
                <a:cs typeface="Cambria"/>
                <a:sym typeface="Cambria"/>
              </a:rPr>
              <a:t>Fairness &amp; Explainability Testing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548640" y="11704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FAIRNESS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14" descr="/home/claude/pptx_single/xgb_cell60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444752"/>
            <a:ext cx="6949440" cy="138074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4"/>
          <p:cNvSpPr/>
          <p:nvPr/>
        </p:nvSpPr>
        <p:spPr>
          <a:xfrm>
            <a:off x="7680960" y="1444752"/>
            <a:ext cx="3959352" cy="1380744"/>
          </a:xfrm>
          <a:prstGeom prst="roundRect">
            <a:avLst>
              <a:gd name="adj" fmla="val 5298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7863840" y="151790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E8871E"/>
                </a:solidFill>
                <a:latin typeface="Cambria"/>
                <a:ea typeface="Cambria"/>
                <a:cs typeface="Cambria"/>
                <a:sym typeface="Cambria"/>
              </a:rPr>
              <a:t>3 of 4 attributes flagged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7863840" y="1810512"/>
            <a:ext cx="3611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Age, Education, Income - recall gaps up to 0.73. Sex: clear (gap 0.01). Gaps not materially worse than the baseline model on 3 of 4 attributes - a required check for champion selection.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14" descr="/home/claude/pptx_single/xgb_cell64_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3273552"/>
            <a:ext cx="2606040" cy="3163824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4"/>
          <p:cNvSpPr/>
          <p:nvPr/>
        </p:nvSpPr>
        <p:spPr>
          <a:xfrm>
            <a:off x="3337560" y="3273552"/>
            <a:ext cx="8302752" cy="3163824"/>
          </a:xfrm>
          <a:prstGeom prst="roundRect">
            <a:avLst>
              <a:gd name="adj" fmla="val 2312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3566160" y="34290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0B7A75"/>
                </a:solidFill>
                <a:latin typeface="Cambria"/>
                <a:ea typeface="Cambria"/>
                <a:cs typeface="Cambria"/>
                <a:sym typeface="Cambria"/>
              </a:rPr>
              <a:t>Stable (r = 0.996)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3566160" y="372160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Top drivers - GenHlth, HighBP, BMI, Age, HighChol - rank consistently across independent samples, not a sampling fluke.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3566160" y="439826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0B7A75"/>
                </a:solidFill>
                <a:latin typeface="Cambria"/>
                <a:ea typeface="Cambria"/>
                <a:cs typeface="Cambria"/>
                <a:sym typeface="Cambria"/>
              </a:rPr>
              <a:t>Face-valid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3566160" y="469087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Local explanations for specific wrong predictions match established clinical reasoning, not arbitrary patterns.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3566160" y="536752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0B7A75"/>
                </a:solidFill>
                <a:latin typeface="Cambria"/>
                <a:ea typeface="Cambria"/>
                <a:cs typeface="Cambria"/>
                <a:sym typeface="Cambria"/>
              </a:rPr>
              <a:t>Non-causal by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3566160" y="5660136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SHAP values describe model contribution - stated as a standing caveat alongside every explanation, not medical causation.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SECTION 5 - TEST REPORT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548640" y="5486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1A2B2E"/>
                </a:solidFill>
                <a:latin typeface="Cambria"/>
                <a:ea typeface="Cambria"/>
                <a:cs typeface="Cambria"/>
                <a:sym typeface="Cambria"/>
              </a:rPr>
              <a:t>Robustness Testing &amp; Cross-Pillar Governance Insight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548640" y="11704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15" descr="/home/claude/pptx_single/xgb_cell71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481328"/>
            <a:ext cx="374904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5"/>
          <p:cNvSpPr/>
          <p:nvPr/>
        </p:nvSpPr>
        <p:spPr>
          <a:xfrm>
            <a:off x="548640" y="3520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Probability shift under +/-7.5% input noise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15" descr="/home/claude/pptx_single/xgb_cell72_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1334" y="1481328"/>
            <a:ext cx="3238931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5"/>
          <p:cNvSpPr/>
          <p:nvPr/>
        </p:nvSpPr>
        <p:spPr>
          <a:xfrm>
            <a:off x="4526280" y="3520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B6B6D"/>
                </a:solidFill>
                <a:latin typeface="Calibri"/>
                <a:ea typeface="Calibri"/>
                <a:cs typeface="Calibri"/>
                <a:sym typeface="Calibri"/>
              </a:rPr>
              <a:t>Prediction flip rate when a field is simulated missing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8503920" y="1481328"/>
            <a:ext cx="3136392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8686800" y="1600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mbria"/>
                <a:ea typeface="Cambria"/>
                <a:cs typeface="Cambria"/>
                <a:sym typeface="Cambria"/>
              </a:rPr>
              <a:t>3.52% / 100%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8686800" y="18562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flip rate under noise / deterministic on repeat runs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8686800" y="23134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mbria"/>
                <a:ea typeface="Cambria"/>
                <a:cs typeface="Cambria"/>
                <a:sym typeface="Cambria"/>
              </a:rPr>
              <a:t>GenHlth, BMI, HighBP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686800" y="2569464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most sensitive to missing input -&gt; now mandatory intake-form fields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8686800" y="30266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A75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0B7A75"/>
                </a:solidFill>
                <a:latin typeface="Cambria"/>
                <a:ea typeface="Cambria"/>
                <a:cs typeface="Cambria"/>
                <a:sym typeface="Cambria"/>
              </a:rPr>
              <a:t>8.6% borderline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8686800" y="32826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2B2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2E"/>
                </a:solidFill>
                <a:latin typeface="Calibri"/>
                <a:ea typeface="Calibri"/>
                <a:cs typeface="Calibri"/>
                <a:sym typeface="Calibri"/>
              </a:rPr>
              <a:t>cases flagged for review, not resolved silently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48640" y="3931920"/>
            <a:ext cx="11091672" cy="2514600"/>
          </a:xfrm>
          <a:prstGeom prst="roundRect">
            <a:avLst>
              <a:gd name="adj" fmla="val 3636"/>
            </a:avLst>
          </a:prstGeom>
          <a:solidFill>
            <a:srgbClr val="0B3D4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822960" y="4187952"/>
            <a:ext cx="566928" cy="566928"/>
          </a:xfrm>
          <a:prstGeom prst="ellipse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15" descr="/home/claude/pptx_single/icon_bulb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0519" y="431551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5"/>
          <p:cNvSpPr/>
          <p:nvPr/>
        </p:nvSpPr>
        <p:spPr>
          <a:xfrm>
            <a:off x="1645920" y="4133088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CROSS-PILLAR INTERPRETATION - NOT THREE INDEPENDENT CHECKLISTS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645920" y="448056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GenHlth, HighBP and BMI are simultaneously the top SHAP drivers (Explainability), the fields most sensitive to missing input (Robustness), and directly implicated in the Income/Education fairness gaps (Fairness) - the single clearest governance signal in this Test Report.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5"/>
          <p:cNvCxnSpPr/>
          <p:nvPr/>
        </p:nvCxnSpPr>
        <p:spPr>
          <a:xfrm>
            <a:off x="1645920" y="5349240"/>
            <a:ext cx="9509760" cy="0"/>
          </a:xfrm>
          <a:prstGeom prst="straightConnector1">
            <a:avLst/>
          </a:prstGeom>
          <a:noFill/>
          <a:ln w="12700" cap="flat" cmpd="sng">
            <a:solidFill>
              <a:srgbClr val="1E5F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6" name="Google Shape;486;p15"/>
          <p:cNvSpPr/>
          <p:nvPr/>
        </p:nvSpPr>
        <p:spPr>
          <a:xfrm>
            <a:off x="1645920" y="54681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GOVERNANCE RECOMMENDATION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1645920" y="5742432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DCEEEC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DCEEEC"/>
                </a:solidFill>
                <a:latin typeface="Calibri"/>
                <a:ea typeface="Calibri"/>
                <a:cs typeface="Calibri"/>
                <a:sym typeface="Calibri"/>
              </a:rPr>
              <a:t>These three fields deserve the most careful data-quality, UX and monitoring attention of any field in the deployed system - escalate the Income/Education fairness gaps for human review before deployment.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0F4F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8382000" y="2103120"/>
            <a:ext cx="304800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42"/>
              </a:buClr>
              <a:buSzPts val="16000"/>
              <a:buFont typeface="Cambria"/>
              <a:buNone/>
            </a:pPr>
            <a:r>
              <a:rPr lang="en-US" sz="16000" b="1" i="0" u="none" strike="noStrike" cap="none">
                <a:solidFill>
                  <a:srgbClr val="0B3D42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838200" y="1600200"/>
            <a:ext cx="838200" cy="685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838200" y="1918080"/>
            <a:ext cx="609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838200" y="2377440"/>
            <a:ext cx="6172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MLOps, Deployment &amp; Live Demo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838200" y="4160520"/>
            <a:ext cx="6019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Governed MLOps pipeline, tracking and versioning, serverless deployment, and the live end-to-end demo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838200" y="493776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0F4F52"/>
          </a:solidFill>
          <a:ln>
            <a:noFill/>
          </a:ln>
          <a:effectLst>
            <a:outerShdw blurRad="127000" dist="38100" dir="5400000" algn="bl" rotWithShape="0">
              <a:srgbClr val="0B3D42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838200" y="4937760"/>
            <a:ext cx="45720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066800" y="506577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Teh Tze Chee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1066800" y="5468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D8D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D8D6"/>
                </a:solidFill>
                <a:latin typeface="Calibri"/>
                <a:ea typeface="Calibri"/>
                <a:cs typeface="Calibri"/>
                <a:sym typeface="Calibri"/>
              </a:rPr>
              <a:t>MLOPs &amp;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8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256032" y="164592"/>
            <a:ext cx="384048" cy="384048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8"/>
          <p:cNvSpPr txBox="1"/>
          <p:nvPr/>
        </p:nvSpPr>
        <p:spPr>
          <a:xfrm>
            <a:off x="256032" y="164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0" name="Google Shape;510;p28"/>
          <p:cNvSpPr txBox="1"/>
          <p:nvPr/>
        </p:nvSpPr>
        <p:spPr>
          <a:xfrm>
            <a:off x="749808" y="73152"/>
            <a:ext cx="103144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MLflow Foundation → Champion SageMaker Pipeline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749808" y="429768"/>
            <a:ext cx="1022299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Notebook 01A establishes Team02 tracking; Notebook 03 v5 selects and operationalises the frozen champion.</a:t>
            </a:r>
            <a:endParaRPr/>
          </a:p>
        </p:txBody>
      </p:sp>
      <p:sp>
        <p:nvSpPr>
          <p:cNvPr id="512" name="Google Shape;512;p28"/>
          <p:cNvSpPr/>
          <p:nvPr/>
        </p:nvSpPr>
        <p:spPr>
          <a:xfrm>
            <a:off x="411480" y="941832"/>
            <a:ext cx="2880360" cy="38404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52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 txBox="1"/>
          <p:nvPr/>
        </p:nvSpPr>
        <p:spPr>
          <a:xfrm>
            <a:off x="484632" y="950976"/>
            <a:ext cx="27340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Notebook 01A — Set Up SageMaker MLflow App</a:t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411480" y="1444752"/>
            <a:ext cx="1956816" cy="914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411480" y="1444752"/>
            <a:ext cx="1956816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484632" y="1591056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 txBox="1"/>
          <p:nvPr/>
        </p:nvSpPr>
        <p:spPr>
          <a:xfrm>
            <a:off x="484632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8" name="Google Shape;518;p28"/>
          <p:cNvSpPr txBox="1"/>
          <p:nvPr/>
        </p:nvSpPr>
        <p:spPr>
          <a:xfrm>
            <a:off x="795528" y="1563624"/>
            <a:ext cx="1499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/>
          </a:p>
        </p:txBody>
      </p:sp>
      <p:sp>
        <p:nvSpPr>
          <p:cNvPr id="519" name="Google Shape;519;p28"/>
          <p:cNvSpPr txBox="1"/>
          <p:nvPr/>
        </p:nvSpPr>
        <p:spPr>
          <a:xfrm>
            <a:off x="484632" y="1874519"/>
            <a:ext cx="1810512" cy="42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Role + SDK/API</a:t>
            </a:r>
            <a:b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preflight</a:t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2395728" y="1792224"/>
            <a:ext cx="128016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2551176" y="1444752"/>
            <a:ext cx="1956816" cy="9144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2551176" y="1444752"/>
            <a:ext cx="1956816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2624328" y="1591056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8"/>
          <p:cNvSpPr txBox="1"/>
          <p:nvPr/>
        </p:nvSpPr>
        <p:spPr>
          <a:xfrm>
            <a:off x="2624328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2935224" y="1563624"/>
            <a:ext cx="1499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S3 artifact store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2624328" y="1874519"/>
            <a:ext cx="1810512" cy="42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Verify Team02 prefix</a:t>
            </a:r>
            <a:b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is writable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4535424" y="1792224"/>
            <a:ext cx="128016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4690872" y="1444752"/>
            <a:ext cx="1956816" cy="9144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4690872" y="1444752"/>
            <a:ext cx="1956816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4764024" y="1591056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8"/>
          <p:cNvSpPr txBox="1"/>
          <p:nvPr/>
        </p:nvSpPr>
        <p:spPr>
          <a:xfrm>
            <a:off x="4764024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32" name="Google Shape;532;p28"/>
          <p:cNvSpPr txBox="1"/>
          <p:nvPr/>
        </p:nvSpPr>
        <p:spPr>
          <a:xfrm>
            <a:off x="5074920" y="1563624"/>
            <a:ext cx="1499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SageMaker MLflow App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4764024" y="1874519"/>
            <a:ext cx="1810512" cy="42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or reuse</a:t>
            </a:r>
            <a:b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+ verify TeamId tag</a:t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6675120" y="1792224"/>
            <a:ext cx="128016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6830568" y="1444752"/>
            <a:ext cx="1956816" cy="9144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6830568" y="1444752"/>
            <a:ext cx="1956816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6903720" y="1591056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8"/>
          <p:cNvSpPr txBox="1"/>
          <p:nvPr/>
        </p:nvSpPr>
        <p:spPr>
          <a:xfrm>
            <a:off x="6903720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39" name="Google Shape;539;p28"/>
          <p:cNvSpPr txBox="1"/>
          <p:nvPr/>
        </p:nvSpPr>
        <p:spPr>
          <a:xfrm>
            <a:off x="7214616" y="1563624"/>
            <a:ext cx="1499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MLflow access</a:t>
            </a:r>
            <a:endParaRPr/>
          </a:p>
        </p:txBody>
      </p:sp>
      <p:sp>
        <p:nvSpPr>
          <p:cNvPr id="540" name="Google Shape;540;p28"/>
          <p:cNvSpPr txBox="1"/>
          <p:nvPr/>
        </p:nvSpPr>
        <p:spPr>
          <a:xfrm>
            <a:off x="6903720" y="1874519"/>
            <a:ext cx="1810512" cy="42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Presigned UI URL</a:t>
            </a:r>
            <a:b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+ connectivity run</a:t>
            </a:r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8814816" y="1792224"/>
            <a:ext cx="128016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8970264" y="1444752"/>
            <a:ext cx="1956816" cy="91440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8970264" y="1444752"/>
            <a:ext cx="19568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9043416" y="1591056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 txBox="1"/>
          <p:nvPr/>
        </p:nvSpPr>
        <p:spPr>
          <a:xfrm>
            <a:off x="9043416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46" name="Google Shape;546;p28"/>
          <p:cNvSpPr txBox="1"/>
          <p:nvPr/>
        </p:nvSpPr>
        <p:spPr>
          <a:xfrm>
            <a:off x="9354312" y="1563624"/>
            <a:ext cx="1499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Handoff config</a:t>
            </a:r>
            <a:endParaRPr/>
          </a:p>
        </p:txBody>
      </p:sp>
      <p:sp>
        <p:nvSpPr>
          <p:cNvPr id="547" name="Google Shape;547;p28"/>
          <p:cNvSpPr txBox="1"/>
          <p:nvPr/>
        </p:nvSpPr>
        <p:spPr>
          <a:xfrm>
            <a:off x="9043416" y="1874519"/>
            <a:ext cx="1810512" cy="42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Save mlflow_app_config_</a:t>
            </a:r>
            <a:b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3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team02.json</a:t>
            </a: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5934456" y="2487168"/>
            <a:ext cx="292608" cy="4206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 txBox="1"/>
          <p:nvPr/>
        </p:nvSpPr>
        <p:spPr>
          <a:xfrm>
            <a:off x="5820509" y="2527203"/>
            <a:ext cx="35661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MLflow ARN + experiment + artifact-store configuration</a:t>
            </a:r>
            <a:endParaRPr/>
          </a:p>
        </p:txBody>
      </p:sp>
      <p:sp>
        <p:nvSpPr>
          <p:cNvPr id="550" name="Google Shape;550;p28"/>
          <p:cNvSpPr/>
          <p:nvPr/>
        </p:nvSpPr>
        <p:spPr>
          <a:xfrm>
            <a:off x="411480" y="2889504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52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"/>
          <p:cNvSpPr txBox="1"/>
          <p:nvPr/>
        </p:nvSpPr>
        <p:spPr>
          <a:xfrm>
            <a:off x="484632" y="2898648"/>
            <a:ext cx="47457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Notebook 03 v5 — Champion-Selected Pipeline, Registry, Deployment &amp; Monitoring</a:t>
            </a:r>
            <a:endParaRPr/>
          </a:p>
        </p:txBody>
      </p:sp>
      <p:sp>
        <p:nvSpPr>
          <p:cNvPr id="552" name="Google Shape;552;p28"/>
          <p:cNvSpPr/>
          <p:nvPr/>
        </p:nvSpPr>
        <p:spPr>
          <a:xfrm>
            <a:off x="411480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411480" y="3401568"/>
            <a:ext cx="101498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484632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Final evidence</a:t>
            </a:r>
            <a:endParaRPr/>
          </a:p>
        </p:txBody>
      </p:sp>
      <p:sp>
        <p:nvSpPr>
          <p:cNvPr id="555" name="Google Shape;555;p28"/>
          <p:cNvSpPr txBox="1"/>
          <p:nvPr/>
        </p:nvSpPr>
        <p:spPr>
          <a:xfrm>
            <a:off x="484632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LR + XGB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runs</a:t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1440180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1536192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EFCE8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1536192" y="3401568"/>
            <a:ext cx="1014984" cy="73152"/>
          </a:xfrm>
          <a:prstGeom prst="rect">
            <a:avLst/>
          </a:prstGeom>
          <a:solidFill>
            <a:srgbClr val="CA8A0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1609344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Champion rule</a:t>
            </a:r>
            <a:endParaRPr/>
          </a:p>
        </p:txBody>
      </p:sp>
      <p:sp>
        <p:nvSpPr>
          <p:cNvPr id="560" name="Google Shape;560;p28"/>
          <p:cNvSpPr txBox="1"/>
          <p:nvPr/>
        </p:nvSpPr>
        <p:spPr>
          <a:xfrm>
            <a:off x="1609344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Held-out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PR-AUC</a:t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2564892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2660904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2660904" y="3401568"/>
            <a:ext cx="1014984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734056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S3 + lineage</a:t>
            </a:r>
            <a:endParaRPr/>
          </a:p>
        </p:txBody>
      </p:sp>
      <p:sp>
        <p:nvSpPr>
          <p:cNvPr id="565" name="Google Shape;565;p28"/>
          <p:cNvSpPr txBox="1"/>
          <p:nvPr/>
        </p:nvSpPr>
        <p:spPr>
          <a:xfrm>
            <a:off x="2734056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Data/hash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/>
          </a:p>
        </p:txBody>
      </p:sp>
      <p:sp>
        <p:nvSpPr>
          <p:cNvPr id="566" name="Google Shape;566;p28"/>
          <p:cNvSpPr/>
          <p:nvPr/>
        </p:nvSpPr>
        <p:spPr>
          <a:xfrm>
            <a:off x="3689604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3785615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3785615" y="3401568"/>
            <a:ext cx="1014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 txBox="1"/>
          <p:nvPr/>
        </p:nvSpPr>
        <p:spPr>
          <a:xfrm>
            <a:off x="3858768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Preprocess</a:t>
            </a:r>
            <a:endParaRPr/>
          </a:p>
        </p:txBody>
      </p:sp>
      <p:sp>
        <p:nvSpPr>
          <p:cNvPr id="570" name="Google Shape;570;p28"/>
          <p:cNvSpPr txBox="1"/>
          <p:nvPr/>
        </p:nvSpPr>
        <p:spPr>
          <a:xfrm>
            <a:off x="3858768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80/20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stratified</a:t>
            </a:r>
            <a:endParaRPr/>
          </a:p>
        </p:txBody>
      </p:sp>
      <p:sp>
        <p:nvSpPr>
          <p:cNvPr id="571" name="Google Shape;571;p28"/>
          <p:cNvSpPr/>
          <p:nvPr/>
        </p:nvSpPr>
        <p:spPr>
          <a:xfrm>
            <a:off x="4814316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4910328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4910328" y="3401568"/>
            <a:ext cx="1014984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 txBox="1"/>
          <p:nvPr/>
        </p:nvSpPr>
        <p:spPr>
          <a:xfrm>
            <a:off x="4983480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4983480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Frozen XGBoost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5939028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6035040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6035040" y="3401568"/>
            <a:ext cx="101498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8"/>
          <p:cNvSpPr txBox="1"/>
          <p:nvPr/>
        </p:nvSpPr>
        <p:spPr>
          <a:xfrm>
            <a:off x="6108192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6108192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Hold-out +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fairness</a:t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7063740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7159752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7159752" y="3401568"/>
            <a:ext cx="1014984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8"/>
          <p:cNvSpPr txBox="1"/>
          <p:nvPr/>
        </p:nvSpPr>
        <p:spPr>
          <a:xfrm>
            <a:off x="7232904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endParaRPr/>
          </a:p>
        </p:txBody>
      </p:sp>
      <p:sp>
        <p:nvSpPr>
          <p:cNvPr id="585" name="Google Shape;585;p28"/>
          <p:cNvSpPr txBox="1"/>
          <p:nvPr/>
        </p:nvSpPr>
        <p:spPr>
          <a:xfrm>
            <a:off x="7232904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Params · metrics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artifacts · run ID</a:t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8188452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8284463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8284463" y="3401568"/>
            <a:ext cx="1014984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8357615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Registry</a:t>
            </a:r>
            <a:endParaRPr/>
          </a:p>
        </p:txBody>
      </p:sp>
      <p:sp>
        <p:nvSpPr>
          <p:cNvPr id="590" name="Google Shape;590;p28"/>
          <p:cNvSpPr txBox="1"/>
          <p:nvPr/>
        </p:nvSpPr>
        <p:spPr>
          <a:xfrm>
            <a:off x="8357615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PendingManual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Approval</a:t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9313163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9409176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9409176" y="3401568"/>
            <a:ext cx="1014984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8"/>
          <p:cNvSpPr txBox="1"/>
          <p:nvPr/>
        </p:nvSpPr>
        <p:spPr>
          <a:xfrm>
            <a:off x="9482328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Human gate</a:t>
            </a:r>
            <a:endParaRPr/>
          </a:p>
        </p:txBody>
      </p:sp>
      <p:sp>
        <p:nvSpPr>
          <p:cNvPr id="595" name="Google Shape;595;p28"/>
          <p:cNvSpPr txBox="1"/>
          <p:nvPr/>
        </p:nvSpPr>
        <p:spPr>
          <a:xfrm>
            <a:off x="9482328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Review +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approve</a:t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10437876" y="3941064"/>
            <a:ext cx="86868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10533888" y="3401568"/>
            <a:ext cx="1014984" cy="13258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10533888" y="3401568"/>
            <a:ext cx="1014984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10607040" y="3520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Deploy + monitor</a:t>
            </a:r>
            <a:endParaRPr/>
          </a:p>
        </p:txBody>
      </p:sp>
      <p:sp>
        <p:nvSpPr>
          <p:cNvPr id="600" name="Google Shape;600;p28"/>
          <p:cNvSpPr txBox="1"/>
          <p:nvPr/>
        </p:nvSpPr>
        <p:spPr>
          <a:xfrm>
            <a:off x="10607040" y="3831336"/>
            <a:ext cx="868680" cy="83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Serverless endpoint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CloudWatch · drift</a:t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566928" y="5029200"/>
            <a:ext cx="11018520" cy="585216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5225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8"/>
          <p:cNvSpPr txBox="1"/>
          <p:nvPr/>
        </p:nvSpPr>
        <p:spPr>
          <a:xfrm>
            <a:off x="676656" y="5065776"/>
            <a:ext cx="10799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Frozen champion: XGBoost   |   Held-out PR-AUC 0.464397 vs Logistic Regression 0.432749   |   Passing the technical gate does not auto-deploy — human approval remains mandatory.</a:t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1417320" y="5760720"/>
            <a:ext cx="9326880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52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8"/>
          <p:cNvSpPr txBox="1"/>
          <p:nvPr/>
        </p:nvSpPr>
        <p:spPr>
          <a:xfrm>
            <a:off x="1527048" y="5797296"/>
            <a:ext cx="9107424" cy="36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Key MLflow role: connect the exact model, data, preprocessing configuration, metrics and artifacts to the registered release.</a:t>
            </a:r>
            <a:endParaRPr/>
          </a:p>
        </p:txBody>
      </p:sp>
      <p:sp>
        <p:nvSpPr>
          <p:cNvPr id="605" name="Google Shape;605;p28"/>
          <p:cNvSpPr/>
          <p:nvPr/>
        </p:nvSpPr>
        <p:spPr>
          <a:xfrm>
            <a:off x="274320" y="6565392"/>
            <a:ext cx="1164031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256032" y="164592"/>
            <a:ext cx="384048" cy="384048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9"/>
          <p:cNvSpPr txBox="1"/>
          <p:nvPr/>
        </p:nvSpPr>
        <p:spPr>
          <a:xfrm>
            <a:off x="256032" y="164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13" name="Google Shape;613;p29"/>
          <p:cNvSpPr txBox="1"/>
          <p:nvPr/>
        </p:nvSpPr>
        <p:spPr>
          <a:xfrm>
            <a:off x="749808" y="73152"/>
            <a:ext cx="103144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 Dataset Copy → Polling Trigger → Pipeline Rebuild</a:t>
            </a:r>
            <a:endParaRPr/>
          </a:p>
        </p:txBody>
      </p:sp>
      <p:sp>
        <p:nvSpPr>
          <p:cNvPr id="614" name="Google Shape;614;p29"/>
          <p:cNvSpPr txBox="1"/>
          <p:nvPr/>
        </p:nvSpPr>
        <p:spPr>
          <a:xfrm>
            <a:off x="749808" y="429768"/>
            <a:ext cx="1022299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 timestamped S3 copy simulates a new-data event; the polling notebook validates lineage before starting a new pipeline execution.</a:t>
            </a:r>
            <a:endParaRPr/>
          </a:p>
        </p:txBody>
      </p:sp>
      <p:sp>
        <p:nvSpPr>
          <p:cNvPr id="615" name="Google Shape;615;p29"/>
          <p:cNvSpPr/>
          <p:nvPr/>
        </p:nvSpPr>
        <p:spPr>
          <a:xfrm>
            <a:off x="411480" y="960120"/>
            <a:ext cx="2148840" cy="38404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52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9"/>
          <p:cNvSpPr txBox="1"/>
          <p:nvPr/>
        </p:nvSpPr>
        <p:spPr>
          <a:xfrm>
            <a:off x="484632" y="969264"/>
            <a:ext cx="20025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S3 Dataset Copy notebook</a:t>
            </a:r>
            <a:endParaRPr/>
          </a:p>
        </p:txBody>
      </p:sp>
      <p:sp>
        <p:nvSpPr>
          <p:cNvPr id="617" name="Google Shape;617;p29"/>
          <p:cNvSpPr/>
          <p:nvPr/>
        </p:nvSpPr>
        <p:spPr>
          <a:xfrm>
            <a:off x="502920" y="1444752"/>
            <a:ext cx="2514600" cy="10058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502920" y="1444752"/>
            <a:ext cx="2514600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576072" y="1591056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576072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21" name="Google Shape;621;p29"/>
          <p:cNvSpPr txBox="1"/>
          <p:nvPr/>
        </p:nvSpPr>
        <p:spPr>
          <a:xfrm>
            <a:off x="886968" y="1563624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Cleaned dataset</a:t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576072" y="1874519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.../data/diabetes/cleaned/</a:t>
            </a:r>
            <a:b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diabetes_binary_cleaned_dataset.csv</a:t>
            </a:r>
            <a:endParaRPr/>
          </a:p>
        </p:txBody>
      </p:sp>
      <p:sp>
        <p:nvSpPr>
          <p:cNvPr id="623" name="Google Shape;623;p29"/>
          <p:cNvSpPr/>
          <p:nvPr/>
        </p:nvSpPr>
        <p:spPr>
          <a:xfrm>
            <a:off x="3081527" y="1828800"/>
            <a:ext cx="164592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3310128" y="1444752"/>
            <a:ext cx="2514600" cy="10058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3310128" y="1444752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3383280" y="1591056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9"/>
          <p:cNvSpPr txBox="1"/>
          <p:nvPr/>
        </p:nvSpPr>
        <p:spPr>
          <a:xfrm>
            <a:off x="3383280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3694176" y="1563624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copy_object()</a:t>
            </a:r>
            <a:endParaRPr/>
          </a:p>
        </p:txBody>
      </p:sp>
      <p:sp>
        <p:nvSpPr>
          <p:cNvPr id="629" name="Google Shape;629;p29"/>
          <p:cNvSpPr txBox="1"/>
          <p:nvPr/>
        </p:nvSpPr>
        <p:spPr>
          <a:xfrm>
            <a:off x="3383280" y="1874519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Server-side copy;</a:t>
            </a:r>
            <a:b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source remains unchanged</a:t>
            </a:r>
            <a:endParaRPr/>
          </a:p>
        </p:txBody>
      </p:sp>
      <p:sp>
        <p:nvSpPr>
          <p:cNvPr id="630" name="Google Shape;630;p29"/>
          <p:cNvSpPr/>
          <p:nvPr/>
        </p:nvSpPr>
        <p:spPr>
          <a:xfrm>
            <a:off x="5888736" y="1828800"/>
            <a:ext cx="164592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6117336" y="1444752"/>
            <a:ext cx="2514600" cy="100584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6117336" y="1444752"/>
            <a:ext cx="251460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6190488" y="1591056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9"/>
          <p:cNvSpPr txBox="1"/>
          <p:nvPr/>
        </p:nvSpPr>
        <p:spPr>
          <a:xfrm>
            <a:off x="6190488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35" name="Google Shape;635;p29"/>
          <p:cNvSpPr txBox="1"/>
          <p:nvPr/>
        </p:nvSpPr>
        <p:spPr>
          <a:xfrm>
            <a:off x="6501383" y="1563624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Timestamp</a:t>
            </a:r>
            <a:endParaRPr/>
          </a:p>
        </p:txBody>
      </p:sp>
      <p:sp>
        <p:nvSpPr>
          <p:cNvPr id="636" name="Google Shape;636;p29"/>
          <p:cNvSpPr txBox="1"/>
          <p:nvPr/>
        </p:nvSpPr>
        <p:spPr>
          <a:xfrm>
            <a:off x="6190488" y="1874519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YYYYMMDD_HHMMSS</a:t>
            </a:r>
            <a:b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unique trigger filename</a:t>
            </a:r>
            <a:endParaRPr/>
          </a:p>
        </p:txBody>
      </p:sp>
      <p:sp>
        <p:nvSpPr>
          <p:cNvPr id="637" name="Google Shape;637;p29"/>
          <p:cNvSpPr/>
          <p:nvPr/>
        </p:nvSpPr>
        <p:spPr>
          <a:xfrm>
            <a:off x="8695944" y="1828800"/>
            <a:ext cx="164592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8924544" y="1444752"/>
            <a:ext cx="2514600" cy="10058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8924544" y="1444752"/>
            <a:ext cx="2514600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8997696" y="1591056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9"/>
          <p:cNvSpPr txBox="1"/>
          <p:nvPr/>
        </p:nvSpPr>
        <p:spPr>
          <a:xfrm>
            <a:off x="8997696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42" name="Google Shape;642;p29"/>
          <p:cNvSpPr txBox="1"/>
          <p:nvPr/>
        </p:nvSpPr>
        <p:spPr>
          <a:xfrm>
            <a:off x="9308592" y="1563624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Trigger folder</a:t>
            </a:r>
            <a:endParaRPr/>
          </a:p>
        </p:txBody>
      </p:sp>
      <p:sp>
        <p:nvSpPr>
          <p:cNvPr id="643" name="Google Shape;643;p29"/>
          <p:cNvSpPr txBox="1"/>
          <p:nvPr/>
        </p:nvSpPr>
        <p:spPr>
          <a:xfrm>
            <a:off x="8997696" y="1874519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.../trigger/input/</a:t>
            </a:r>
            <a:b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1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new CSV object</a:t>
            </a:r>
            <a:endParaRPr/>
          </a:p>
        </p:txBody>
      </p:sp>
      <p:sp>
        <p:nvSpPr>
          <p:cNvPr id="644" name="Google Shape;644;p29"/>
          <p:cNvSpPr/>
          <p:nvPr/>
        </p:nvSpPr>
        <p:spPr>
          <a:xfrm>
            <a:off x="9921240" y="2578608"/>
            <a:ext cx="329184" cy="43891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9"/>
          <p:cNvSpPr txBox="1"/>
          <p:nvPr/>
        </p:nvSpPr>
        <p:spPr>
          <a:xfrm>
            <a:off x="9683507" y="2636921"/>
            <a:ext cx="22860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new S3 object detected</a:t>
            </a:r>
            <a:endParaRPr/>
          </a:p>
        </p:txBody>
      </p:sp>
      <p:sp>
        <p:nvSpPr>
          <p:cNvPr id="646" name="Google Shape;646;p29"/>
          <p:cNvSpPr/>
          <p:nvPr/>
        </p:nvSpPr>
        <p:spPr>
          <a:xfrm>
            <a:off x="411480" y="2926080"/>
            <a:ext cx="2057400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 txBox="1"/>
          <p:nvPr/>
        </p:nvSpPr>
        <p:spPr>
          <a:xfrm>
            <a:off x="484632" y="2935224"/>
            <a:ext cx="191109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S3 Polling Trigger v2</a:t>
            </a:r>
            <a:endParaRPr/>
          </a:p>
        </p:txBody>
      </p:sp>
      <p:sp>
        <p:nvSpPr>
          <p:cNvPr id="648" name="Google Shape;648;p29"/>
          <p:cNvSpPr/>
          <p:nvPr/>
        </p:nvSpPr>
        <p:spPr>
          <a:xfrm>
            <a:off x="502920" y="3401568"/>
            <a:ext cx="1993392" cy="11430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502920" y="3401568"/>
            <a:ext cx="1993392" cy="73152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576072" y="3547872"/>
            <a:ext cx="256032" cy="256032"/>
          </a:xfrm>
          <a:prstGeom prst="ellipse">
            <a:avLst/>
          </a:prstGeom>
          <a:solidFill>
            <a:srgbClr val="47556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9"/>
          <p:cNvSpPr txBox="1"/>
          <p:nvPr/>
        </p:nvSpPr>
        <p:spPr>
          <a:xfrm>
            <a:off x="576072" y="35478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52" name="Google Shape;652;p29"/>
          <p:cNvSpPr txBox="1"/>
          <p:nvPr/>
        </p:nvSpPr>
        <p:spPr>
          <a:xfrm>
            <a:off x="886968" y="3520440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653" name="Google Shape;653;p29"/>
          <p:cNvSpPr txBox="1"/>
          <p:nvPr/>
        </p:nvSpPr>
        <p:spPr>
          <a:xfrm>
            <a:off x="576072" y="3831336"/>
            <a:ext cx="1847088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Ignore existing files</a:t>
            </a:r>
            <a:b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PROCESS_EXISTING_OBJECTS=False</a:t>
            </a:r>
            <a:endParaRPr/>
          </a:p>
        </p:txBody>
      </p:sp>
      <p:sp>
        <p:nvSpPr>
          <p:cNvPr id="654" name="Google Shape;654;p29"/>
          <p:cNvSpPr/>
          <p:nvPr/>
        </p:nvSpPr>
        <p:spPr>
          <a:xfrm>
            <a:off x="2532888" y="3831336"/>
            <a:ext cx="137160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2715768" y="3401568"/>
            <a:ext cx="1993392" cy="11430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2715768" y="3401568"/>
            <a:ext cx="199339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2788920" y="35478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9"/>
          <p:cNvSpPr txBox="1"/>
          <p:nvPr/>
        </p:nvSpPr>
        <p:spPr>
          <a:xfrm>
            <a:off x="2788920" y="35478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59" name="Google Shape;659;p29"/>
          <p:cNvSpPr txBox="1"/>
          <p:nvPr/>
        </p:nvSpPr>
        <p:spPr>
          <a:xfrm>
            <a:off x="3099815" y="3520440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Poll every 60 s</a:t>
            </a:r>
            <a:endParaRPr/>
          </a:p>
        </p:txBody>
      </p:sp>
      <p:sp>
        <p:nvSpPr>
          <p:cNvPr id="660" name="Google Shape;660;p29"/>
          <p:cNvSpPr txBox="1"/>
          <p:nvPr/>
        </p:nvSpPr>
        <p:spPr>
          <a:xfrm>
            <a:off x="2788920" y="3831336"/>
            <a:ext cx="1847088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List trigger objects</a:t>
            </a:r>
            <a:endParaRPr/>
          </a:p>
        </p:txBody>
      </p:sp>
      <p:sp>
        <p:nvSpPr>
          <p:cNvPr id="661" name="Google Shape;661;p29"/>
          <p:cNvSpPr/>
          <p:nvPr/>
        </p:nvSpPr>
        <p:spPr>
          <a:xfrm>
            <a:off x="4745736" y="3831336"/>
            <a:ext cx="137160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928616" y="3401568"/>
            <a:ext cx="1993392" cy="114300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928616" y="3401568"/>
            <a:ext cx="1993392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5001768" y="3547872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 txBox="1"/>
          <p:nvPr/>
        </p:nvSpPr>
        <p:spPr>
          <a:xfrm>
            <a:off x="5001768" y="35478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66" name="Google Shape;666;p29"/>
          <p:cNvSpPr txBox="1"/>
          <p:nvPr/>
        </p:nvSpPr>
        <p:spPr>
          <a:xfrm>
            <a:off x="5312664" y="3520440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Detect change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5001768" y="3831336"/>
            <a:ext cx="1847088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key + ETag + size</a:t>
            </a:r>
            <a:b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+ last-modified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958584" y="3831336"/>
            <a:ext cx="137160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7141464" y="3401568"/>
            <a:ext cx="1993392" cy="11430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7141464" y="3401568"/>
            <a:ext cx="199339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7214616" y="35478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9"/>
          <p:cNvSpPr txBox="1"/>
          <p:nvPr/>
        </p:nvSpPr>
        <p:spPr>
          <a:xfrm>
            <a:off x="7214616" y="35478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73" name="Google Shape;673;p29"/>
          <p:cNvSpPr txBox="1"/>
          <p:nvPr/>
        </p:nvSpPr>
        <p:spPr>
          <a:xfrm>
            <a:off x="7525512" y="3520440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Pipeline contract</a:t>
            </a:r>
            <a:endParaRPr/>
          </a:p>
        </p:txBody>
      </p:sp>
      <p:sp>
        <p:nvSpPr>
          <p:cNvPr id="674" name="Google Shape;674;p29"/>
          <p:cNvSpPr txBox="1"/>
          <p:nvPr/>
        </p:nvSpPr>
        <p:spPr>
          <a:xfrm>
            <a:off x="7214616" y="3831336"/>
            <a:ext cx="1847088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Verify final v5</a:t>
            </a:r>
            <a:b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name · params · steps</a:t>
            </a:r>
            <a:endParaRPr/>
          </a:p>
        </p:txBody>
      </p:sp>
      <p:sp>
        <p:nvSpPr>
          <p:cNvPr id="675" name="Google Shape;675;p29"/>
          <p:cNvSpPr/>
          <p:nvPr/>
        </p:nvSpPr>
        <p:spPr>
          <a:xfrm>
            <a:off x="9171432" y="3831336"/>
            <a:ext cx="137160" cy="2560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9354312" y="3401568"/>
            <a:ext cx="1993392" cy="11430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9354312" y="3401568"/>
            <a:ext cx="1993392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9427464" y="35478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9"/>
          <p:cNvSpPr txBox="1"/>
          <p:nvPr/>
        </p:nvSpPr>
        <p:spPr>
          <a:xfrm>
            <a:off x="9427464" y="35478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80" name="Google Shape;680;p29"/>
          <p:cNvSpPr txBox="1"/>
          <p:nvPr/>
        </p:nvSpPr>
        <p:spPr>
          <a:xfrm>
            <a:off x="9738360" y="3520440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Lineage preflight</a:t>
            </a:r>
            <a:endParaRPr/>
          </a:p>
        </p:txBody>
      </p:sp>
      <p:sp>
        <p:nvSpPr>
          <p:cNvPr id="681" name="Google Shape;681;p29"/>
          <p:cNvSpPr txBox="1"/>
          <p:nvPr/>
        </p:nvSpPr>
        <p:spPr>
          <a:xfrm>
            <a:off x="9427464" y="3831336"/>
            <a:ext cx="1847088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253,680 rows · schema</a:t>
            </a:r>
            <a:b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profile + split hashes</a:t>
            </a: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9765792" y="4745736"/>
            <a:ext cx="1051560" cy="749808"/>
          </a:xfrm>
          <a:prstGeom prst="diamond">
            <a:avLst/>
          </a:prstGeom>
          <a:solidFill>
            <a:srgbClr val="FEFCE8"/>
          </a:solidFill>
          <a:ln w="15225" cap="flat" cmpd="sng">
            <a:solidFill>
              <a:srgbClr val="CA8A0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9"/>
          <p:cNvSpPr txBox="1"/>
          <p:nvPr/>
        </p:nvSpPr>
        <p:spPr>
          <a:xfrm>
            <a:off x="9838944" y="4901184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A8A04"/>
                </a:solidFill>
                <a:latin typeface="Arial"/>
                <a:ea typeface="Arial"/>
                <a:cs typeface="Arial"/>
                <a:sym typeface="Arial"/>
              </a:rPr>
              <a:t>Valid?</a:t>
            </a:r>
            <a:endParaRPr/>
          </a:p>
        </p:txBody>
      </p:sp>
      <p:sp>
        <p:nvSpPr>
          <p:cNvPr id="684" name="Google Shape;684;p29"/>
          <p:cNvSpPr/>
          <p:nvPr/>
        </p:nvSpPr>
        <p:spPr>
          <a:xfrm>
            <a:off x="10040112" y="4553712"/>
            <a:ext cx="320040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10844784" y="5001768"/>
            <a:ext cx="2743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6A34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9"/>
          <p:cNvSpPr/>
          <p:nvPr/>
        </p:nvSpPr>
        <p:spPr>
          <a:xfrm>
            <a:off x="8458200" y="5532120"/>
            <a:ext cx="3310128" cy="768096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5225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9"/>
          <p:cNvSpPr txBox="1"/>
          <p:nvPr/>
        </p:nvSpPr>
        <p:spPr>
          <a:xfrm>
            <a:off x="8567928" y="5568696"/>
            <a:ext cx="30906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YES  →  start_pipeline_execution("team02-diabetes-risk")</a:t>
            </a:r>
            <a:br>
              <a:rPr lang="en-US" sz="869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9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Pass 5 frozen parameters → new pipeline execution ARN → model package remains PendingManualApproval</a:t>
            </a:r>
            <a:endParaRPr/>
          </a:p>
        </p:txBody>
      </p:sp>
      <p:sp>
        <p:nvSpPr>
          <p:cNvPr id="688" name="Google Shape;688;p29"/>
          <p:cNvSpPr/>
          <p:nvPr/>
        </p:nvSpPr>
        <p:spPr>
          <a:xfrm>
            <a:off x="9272016" y="5001768"/>
            <a:ext cx="2743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5212080" y="4910328"/>
            <a:ext cx="3749039" cy="603504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2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9"/>
          <p:cNvSpPr txBox="1"/>
          <p:nvPr/>
        </p:nvSpPr>
        <p:spPr>
          <a:xfrm>
            <a:off x="5321808" y="4946904"/>
            <a:ext cx="3529583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NO  →  BLOCK TRIGGER</a:t>
            </a:r>
            <a:br>
              <a:rPr lang="en-US" sz="9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Write reason + fingerprint to JSONL audit trail</a:t>
            </a:r>
            <a:endParaRPr/>
          </a:p>
        </p:txBody>
      </p:sp>
      <p:sp>
        <p:nvSpPr>
          <p:cNvPr id="691" name="Google Shape;691;p29"/>
          <p:cNvSpPr/>
          <p:nvPr/>
        </p:nvSpPr>
        <p:spPr>
          <a:xfrm>
            <a:off x="594360" y="5715000"/>
            <a:ext cx="7452360" cy="512064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52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9"/>
          <p:cNvSpPr txBox="1"/>
          <p:nvPr/>
        </p:nvSpPr>
        <p:spPr>
          <a:xfrm>
            <a:off x="704088" y="5751576"/>
            <a:ext cx="723290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Governance boundary: this demonstrates controlled pipeline retraining/reproducibility — arbitrary changed data is rejected, and the trigger never auto-approves or auto-deploys.</a:t>
            </a:r>
            <a:endParaRPr/>
          </a:p>
        </p:txBody>
      </p:sp>
      <p:sp>
        <p:nvSpPr>
          <p:cNvPr id="693" name="Google Shape;693;p29"/>
          <p:cNvSpPr/>
          <p:nvPr/>
        </p:nvSpPr>
        <p:spPr>
          <a:xfrm>
            <a:off x="274320" y="6565392"/>
            <a:ext cx="1164031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0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256032" y="164592"/>
            <a:ext cx="384048" cy="384048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0"/>
          <p:cNvSpPr txBox="1"/>
          <p:nvPr/>
        </p:nvSpPr>
        <p:spPr>
          <a:xfrm>
            <a:off x="256032" y="164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01" name="Google Shape;701;p30"/>
          <p:cNvSpPr txBox="1"/>
          <p:nvPr/>
        </p:nvSpPr>
        <p:spPr>
          <a:xfrm>
            <a:off x="749808" y="73152"/>
            <a:ext cx="103144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Streamlit → ngrok/FastAPI Relay → SageMaker Endpoint</a:t>
            </a:r>
            <a:endParaRPr/>
          </a:p>
        </p:txBody>
      </p:sp>
      <p:sp>
        <p:nvSpPr>
          <p:cNvPr id="702" name="Google Shape;702;p30"/>
          <p:cNvSpPr txBox="1"/>
          <p:nvPr/>
        </p:nvSpPr>
        <p:spPr>
          <a:xfrm>
            <a:off x="749808" y="429768"/>
            <a:ext cx="1022299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relay keeps AWS credentials inside SageMaker, exposes only temporary authenticated routes, and validates champion lineage.</a:t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411480" y="960120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0"/>
          <p:cNvSpPr txBox="1"/>
          <p:nvPr/>
        </p:nvSpPr>
        <p:spPr>
          <a:xfrm>
            <a:off x="484632" y="969264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Relay notebook preflight</a:t>
            </a:r>
            <a:endParaRPr/>
          </a:p>
        </p:txBody>
      </p:sp>
      <p:sp>
        <p:nvSpPr>
          <p:cNvPr id="705" name="Google Shape;705;p30"/>
          <p:cNvSpPr/>
          <p:nvPr/>
        </p:nvSpPr>
        <p:spPr>
          <a:xfrm>
            <a:off x="457200" y="1371600"/>
            <a:ext cx="1755648" cy="102412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457200" y="1371600"/>
            <a:ext cx="1755648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530352" y="1517904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0"/>
          <p:cNvSpPr txBox="1"/>
          <p:nvPr/>
        </p:nvSpPr>
        <p:spPr>
          <a:xfrm>
            <a:off x="530352" y="15179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841247" y="149047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AWS identity</a:t>
            </a:r>
            <a:endParaRPr/>
          </a:p>
        </p:txBody>
      </p:sp>
      <p:sp>
        <p:nvSpPr>
          <p:cNvPr id="710" name="Google Shape;710;p30"/>
          <p:cNvSpPr txBox="1"/>
          <p:nvPr/>
        </p:nvSpPr>
        <p:spPr>
          <a:xfrm>
            <a:off x="530352" y="1801368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 inside Team02</a:t>
            </a:r>
            <a:b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SageMaker Studio</a:t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2235708" y="1764792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2386584" y="1371600"/>
            <a:ext cx="1755648" cy="102412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2386584" y="1371600"/>
            <a:ext cx="1755648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2459736" y="1517904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 txBox="1"/>
          <p:nvPr/>
        </p:nvSpPr>
        <p:spPr>
          <a:xfrm>
            <a:off x="2459736" y="15179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16" name="Google Shape;716;p30"/>
          <p:cNvSpPr txBox="1"/>
          <p:nvPr/>
        </p:nvSpPr>
        <p:spPr>
          <a:xfrm>
            <a:off x="2770632" y="149047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Endpoint check</a:t>
            </a:r>
            <a:endParaRPr/>
          </a:p>
        </p:txBody>
      </p:sp>
      <p:sp>
        <p:nvSpPr>
          <p:cNvPr id="717" name="Google Shape;717;p30"/>
          <p:cNvSpPr txBox="1"/>
          <p:nvPr/>
        </p:nvSpPr>
        <p:spPr>
          <a:xfrm>
            <a:off x="2459736" y="1801368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team02-diabetes-risk</a:t>
            </a:r>
            <a:b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status = InService</a:t>
            </a:r>
            <a:endParaRPr/>
          </a:p>
        </p:txBody>
      </p:sp>
      <p:sp>
        <p:nvSpPr>
          <p:cNvPr id="718" name="Google Shape;718;p30"/>
          <p:cNvSpPr/>
          <p:nvPr/>
        </p:nvSpPr>
        <p:spPr>
          <a:xfrm>
            <a:off x="4165091" y="1764792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4315968" y="1371600"/>
            <a:ext cx="1755648" cy="102412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4315968" y="1371600"/>
            <a:ext cx="175564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389120" y="151790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0"/>
          <p:cNvSpPr txBox="1"/>
          <p:nvPr/>
        </p:nvSpPr>
        <p:spPr>
          <a:xfrm>
            <a:off x="4389120" y="15179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23" name="Google Shape;723;p30"/>
          <p:cNvSpPr txBox="1"/>
          <p:nvPr/>
        </p:nvSpPr>
        <p:spPr>
          <a:xfrm>
            <a:off x="4700016" y="149047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Direct invoke</a:t>
            </a:r>
            <a:endParaRPr/>
          </a:p>
        </p:txBody>
      </p:sp>
      <p:sp>
        <p:nvSpPr>
          <p:cNvPr id="724" name="Google Shape;724;p30"/>
          <p:cNvSpPr txBox="1"/>
          <p:nvPr/>
        </p:nvSpPr>
        <p:spPr>
          <a:xfrm>
            <a:off x="4389120" y="1801368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SageMaker Runtime</a:t>
            </a:r>
            <a:b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+ lineage PASS</a:t>
            </a:r>
            <a:endParaRPr/>
          </a:p>
        </p:txBody>
      </p:sp>
      <p:sp>
        <p:nvSpPr>
          <p:cNvPr id="725" name="Google Shape;725;p30"/>
          <p:cNvSpPr/>
          <p:nvPr/>
        </p:nvSpPr>
        <p:spPr>
          <a:xfrm>
            <a:off x="6094476" y="1764792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6245352" y="1371600"/>
            <a:ext cx="1755648" cy="102412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6245352" y="1371600"/>
            <a:ext cx="17556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6318504" y="151790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0"/>
          <p:cNvSpPr txBox="1"/>
          <p:nvPr/>
        </p:nvSpPr>
        <p:spPr>
          <a:xfrm>
            <a:off x="6318504" y="15179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30" name="Google Shape;730;p30"/>
          <p:cNvSpPr txBox="1"/>
          <p:nvPr/>
        </p:nvSpPr>
        <p:spPr>
          <a:xfrm>
            <a:off x="6629400" y="149047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Start FastAPI</a:t>
            </a:r>
            <a:endParaRPr/>
          </a:p>
        </p:txBody>
      </p:sp>
      <p:sp>
        <p:nvSpPr>
          <p:cNvPr id="731" name="Google Shape;731;p30"/>
          <p:cNvSpPr txBox="1"/>
          <p:nvPr/>
        </p:nvSpPr>
        <p:spPr>
          <a:xfrm>
            <a:off x="6318504" y="1801368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/health + /predict</a:t>
            </a:r>
            <a:b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x-api-key</a:t>
            </a:r>
            <a:endParaRPr/>
          </a:p>
        </p:txBody>
      </p:sp>
      <p:sp>
        <p:nvSpPr>
          <p:cNvPr id="732" name="Google Shape;732;p30"/>
          <p:cNvSpPr/>
          <p:nvPr/>
        </p:nvSpPr>
        <p:spPr>
          <a:xfrm>
            <a:off x="8023860" y="1764792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8174736" y="1371600"/>
            <a:ext cx="1755648" cy="102412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0"/>
          <p:cNvSpPr/>
          <p:nvPr/>
        </p:nvSpPr>
        <p:spPr>
          <a:xfrm>
            <a:off x="8174736" y="1371600"/>
            <a:ext cx="17556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8247888" y="151790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0"/>
          <p:cNvSpPr txBox="1"/>
          <p:nvPr/>
        </p:nvSpPr>
        <p:spPr>
          <a:xfrm>
            <a:off x="8247888" y="15179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37" name="Google Shape;737;p30"/>
          <p:cNvSpPr txBox="1"/>
          <p:nvPr/>
        </p:nvSpPr>
        <p:spPr>
          <a:xfrm>
            <a:off x="8558784" y="149047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Local test</a:t>
            </a:r>
            <a:endParaRPr/>
          </a:p>
        </p:txBody>
      </p:sp>
      <p:sp>
        <p:nvSpPr>
          <p:cNvPr id="738" name="Google Shape;738;p30"/>
          <p:cNvSpPr txBox="1"/>
          <p:nvPr/>
        </p:nvSpPr>
        <p:spPr>
          <a:xfrm>
            <a:off x="8247888" y="1801368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FastAPI → SageMaker</a:t>
            </a:r>
            <a:b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response validated</a:t>
            </a:r>
            <a:endParaRPr/>
          </a:p>
        </p:txBody>
      </p:sp>
      <p:sp>
        <p:nvSpPr>
          <p:cNvPr id="739" name="Google Shape;739;p30"/>
          <p:cNvSpPr/>
          <p:nvPr/>
        </p:nvSpPr>
        <p:spPr>
          <a:xfrm>
            <a:off x="9953244" y="1764792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10104119" y="1371600"/>
            <a:ext cx="1755648" cy="102412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10104119" y="1371600"/>
            <a:ext cx="17556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0"/>
          <p:cNvSpPr/>
          <p:nvPr/>
        </p:nvSpPr>
        <p:spPr>
          <a:xfrm>
            <a:off x="10177272" y="151790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0"/>
          <p:cNvSpPr txBox="1"/>
          <p:nvPr/>
        </p:nvSpPr>
        <p:spPr>
          <a:xfrm>
            <a:off x="10177272" y="15179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44" name="Google Shape;744;p30"/>
          <p:cNvSpPr txBox="1"/>
          <p:nvPr/>
        </p:nvSpPr>
        <p:spPr>
          <a:xfrm>
            <a:off x="10488167" y="149047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ngrok tunnel</a:t>
            </a:r>
            <a:endParaRPr/>
          </a:p>
        </p:txBody>
      </p:sp>
      <p:sp>
        <p:nvSpPr>
          <p:cNvPr id="745" name="Google Shape;745;p30"/>
          <p:cNvSpPr txBox="1"/>
          <p:nvPr/>
        </p:nvSpPr>
        <p:spPr>
          <a:xfrm>
            <a:off x="10177272" y="1801368"/>
            <a:ext cx="1609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Expose port 8000</a:t>
            </a:r>
            <a:b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8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public HTTPS URL</a:t>
            </a: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411480" y="269748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0"/>
          <p:cNvSpPr txBox="1"/>
          <p:nvPr/>
        </p:nvSpPr>
        <p:spPr>
          <a:xfrm>
            <a:off x="484632" y="2706624"/>
            <a:ext cx="14538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Live inference path</a:t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411480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411480" y="3127248"/>
            <a:ext cx="129844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0"/>
          <p:cNvSpPr txBox="1"/>
          <p:nvPr/>
        </p:nvSpPr>
        <p:spPr>
          <a:xfrm>
            <a:off x="484632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sp>
        <p:nvSpPr>
          <p:cNvPr id="751" name="Google Shape;751;p30"/>
          <p:cNvSpPr txBox="1"/>
          <p:nvPr/>
        </p:nvSpPr>
        <p:spPr>
          <a:xfrm>
            <a:off x="484632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single form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 CSV</a:t>
            </a:r>
            <a:endParaRPr/>
          </a:p>
        </p:txBody>
      </p:sp>
      <p:sp>
        <p:nvSpPr>
          <p:cNvPr id="752" name="Google Shape;752;p30"/>
          <p:cNvSpPr/>
          <p:nvPr/>
        </p:nvSpPr>
        <p:spPr>
          <a:xfrm>
            <a:off x="1728216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0"/>
          <p:cNvSpPr/>
          <p:nvPr/>
        </p:nvSpPr>
        <p:spPr>
          <a:xfrm>
            <a:off x="1874519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1874519" y="3127248"/>
            <a:ext cx="1298448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0"/>
          <p:cNvSpPr txBox="1"/>
          <p:nvPr/>
        </p:nvSpPr>
        <p:spPr>
          <a:xfrm>
            <a:off x="1947672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/>
          </a:p>
        </p:txBody>
      </p:sp>
      <p:sp>
        <p:nvSpPr>
          <p:cNvPr id="756" name="Google Shape;756;p30"/>
          <p:cNvSpPr txBox="1"/>
          <p:nvPr/>
        </p:nvSpPr>
        <p:spPr>
          <a:xfrm>
            <a:off x="1947672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validate 21 features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+ acknowledgement</a:t>
            </a:r>
            <a:endParaRPr/>
          </a:p>
        </p:txBody>
      </p:sp>
      <p:sp>
        <p:nvSpPr>
          <p:cNvPr id="757" name="Google Shape;757;p30"/>
          <p:cNvSpPr/>
          <p:nvPr/>
        </p:nvSpPr>
        <p:spPr>
          <a:xfrm>
            <a:off x="3191256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3337560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0"/>
          <p:cNvSpPr/>
          <p:nvPr/>
        </p:nvSpPr>
        <p:spPr>
          <a:xfrm>
            <a:off x="3337560" y="3127248"/>
            <a:ext cx="12984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0"/>
          <p:cNvSpPr txBox="1"/>
          <p:nvPr/>
        </p:nvSpPr>
        <p:spPr>
          <a:xfrm>
            <a:off x="3410712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ngrok HTTPS</a:t>
            </a:r>
            <a:endParaRPr/>
          </a:p>
        </p:txBody>
      </p:sp>
      <p:sp>
        <p:nvSpPr>
          <p:cNvPr id="761" name="Google Shape;761;p30"/>
          <p:cNvSpPr txBox="1"/>
          <p:nvPr/>
        </p:nvSpPr>
        <p:spPr>
          <a:xfrm>
            <a:off x="3410712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temporary public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/predict URL</a:t>
            </a: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4654296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0"/>
          <p:cNvSpPr/>
          <p:nvPr/>
        </p:nvSpPr>
        <p:spPr>
          <a:xfrm>
            <a:off x="4800600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0"/>
          <p:cNvSpPr/>
          <p:nvPr/>
        </p:nvSpPr>
        <p:spPr>
          <a:xfrm>
            <a:off x="4800600" y="3127248"/>
            <a:ext cx="12984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0"/>
          <p:cNvSpPr txBox="1"/>
          <p:nvPr/>
        </p:nvSpPr>
        <p:spPr>
          <a:xfrm>
            <a:off x="4873752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FastAPI relay</a:t>
            </a:r>
            <a:endParaRPr/>
          </a:p>
        </p:txBody>
      </p:sp>
      <p:sp>
        <p:nvSpPr>
          <p:cNvPr id="766" name="Google Shape;766;p30"/>
          <p:cNvSpPr txBox="1"/>
          <p:nvPr/>
        </p:nvSpPr>
        <p:spPr>
          <a:xfrm>
            <a:off x="4873752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auth + fixed endpoint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lineage checks</a:t>
            </a: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6117336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0"/>
          <p:cNvSpPr/>
          <p:nvPr/>
        </p:nvSpPr>
        <p:spPr>
          <a:xfrm>
            <a:off x="6263640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0"/>
          <p:cNvSpPr/>
          <p:nvPr/>
        </p:nvSpPr>
        <p:spPr>
          <a:xfrm>
            <a:off x="6263640" y="3127248"/>
            <a:ext cx="1298448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0"/>
          <p:cNvSpPr txBox="1"/>
          <p:nvPr/>
        </p:nvSpPr>
        <p:spPr>
          <a:xfrm>
            <a:off x="6336792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boto3 runtime</a:t>
            </a:r>
            <a:endParaRPr/>
          </a:p>
        </p:txBody>
      </p:sp>
      <p:sp>
        <p:nvSpPr>
          <p:cNvPr id="771" name="Google Shape;771;p30"/>
          <p:cNvSpPr txBox="1"/>
          <p:nvPr/>
        </p:nvSpPr>
        <p:spPr>
          <a:xfrm>
            <a:off x="6336792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SageMaker execution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/>
          </a:p>
        </p:txBody>
      </p:sp>
      <p:sp>
        <p:nvSpPr>
          <p:cNvPr id="772" name="Google Shape;772;p30"/>
          <p:cNvSpPr/>
          <p:nvPr/>
        </p:nvSpPr>
        <p:spPr>
          <a:xfrm>
            <a:off x="7580375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7726679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0"/>
          <p:cNvSpPr/>
          <p:nvPr/>
        </p:nvSpPr>
        <p:spPr>
          <a:xfrm>
            <a:off x="7726679" y="3127248"/>
            <a:ext cx="1298448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0"/>
          <p:cNvSpPr txBox="1"/>
          <p:nvPr/>
        </p:nvSpPr>
        <p:spPr>
          <a:xfrm>
            <a:off x="7799831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Serverless endpoint</a:t>
            </a:r>
            <a:endParaRPr/>
          </a:p>
        </p:txBody>
      </p:sp>
      <p:sp>
        <p:nvSpPr>
          <p:cNvPr id="776" name="Google Shape;776;p30"/>
          <p:cNvSpPr txBox="1"/>
          <p:nvPr/>
        </p:nvSpPr>
        <p:spPr>
          <a:xfrm>
            <a:off x="7799831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team02-diabetes-risk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XGBoost champion</a:t>
            </a:r>
            <a:endParaRPr/>
          </a:p>
        </p:txBody>
      </p:sp>
      <p:sp>
        <p:nvSpPr>
          <p:cNvPr id="777" name="Google Shape;777;p30"/>
          <p:cNvSpPr/>
          <p:nvPr/>
        </p:nvSpPr>
        <p:spPr>
          <a:xfrm>
            <a:off x="9043415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0"/>
          <p:cNvSpPr/>
          <p:nvPr/>
        </p:nvSpPr>
        <p:spPr>
          <a:xfrm>
            <a:off x="9189719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0"/>
          <p:cNvSpPr/>
          <p:nvPr/>
        </p:nvSpPr>
        <p:spPr>
          <a:xfrm>
            <a:off x="9189719" y="3127248"/>
            <a:ext cx="1298448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0"/>
          <p:cNvSpPr txBox="1"/>
          <p:nvPr/>
        </p:nvSpPr>
        <p:spPr>
          <a:xfrm>
            <a:off x="9262872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sp>
        <p:nvSpPr>
          <p:cNvPr id="781" name="Google Shape;781;p30"/>
          <p:cNvSpPr txBox="1"/>
          <p:nvPr/>
        </p:nvSpPr>
        <p:spPr>
          <a:xfrm>
            <a:off x="9262872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class · probability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threshold + lineage</a:t>
            </a:r>
            <a:endParaRPr/>
          </a:p>
        </p:txBody>
      </p:sp>
      <p:sp>
        <p:nvSpPr>
          <p:cNvPr id="782" name="Google Shape;782;p30"/>
          <p:cNvSpPr/>
          <p:nvPr/>
        </p:nvSpPr>
        <p:spPr>
          <a:xfrm>
            <a:off x="10506455" y="3630168"/>
            <a:ext cx="118872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0"/>
          <p:cNvSpPr/>
          <p:nvPr/>
        </p:nvSpPr>
        <p:spPr>
          <a:xfrm>
            <a:off x="10652759" y="3127248"/>
            <a:ext cx="1298448" cy="12435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0"/>
          <p:cNvSpPr/>
          <p:nvPr/>
        </p:nvSpPr>
        <p:spPr>
          <a:xfrm>
            <a:off x="10652759" y="3127248"/>
            <a:ext cx="1298448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0"/>
          <p:cNvSpPr txBox="1"/>
          <p:nvPr/>
        </p:nvSpPr>
        <p:spPr>
          <a:xfrm>
            <a:off x="10725911" y="3246120"/>
            <a:ext cx="115214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Streamlit result</a:t>
            </a:r>
            <a:endParaRPr/>
          </a:p>
        </p:txBody>
      </p:sp>
      <p:sp>
        <p:nvSpPr>
          <p:cNvPr id="786" name="Google Shape;786;p30"/>
          <p:cNvSpPr txBox="1"/>
          <p:nvPr/>
        </p:nvSpPr>
        <p:spPr>
          <a:xfrm>
            <a:off x="10725911" y="3557015"/>
            <a:ext cx="115214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plain-language</a:t>
            </a:r>
            <a:b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6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screening output</a:t>
            </a:r>
            <a:endParaRPr/>
          </a:p>
        </p:txBody>
      </p:sp>
      <p:sp>
        <p:nvSpPr>
          <p:cNvPr id="787" name="Google Shape;787;p30"/>
          <p:cNvSpPr txBox="1"/>
          <p:nvPr/>
        </p:nvSpPr>
        <p:spPr>
          <a:xfrm>
            <a:off x="475488" y="46634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Serving-time controls</a:t>
            </a:r>
            <a:endParaRPr/>
          </a:p>
        </p:txBody>
      </p:sp>
      <p:sp>
        <p:nvSpPr>
          <p:cNvPr id="788" name="Google Shape;788;p30"/>
          <p:cNvSpPr/>
          <p:nvPr/>
        </p:nvSpPr>
        <p:spPr>
          <a:xfrm>
            <a:off x="475488" y="5010912"/>
            <a:ext cx="2148840" cy="3291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14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0"/>
          <p:cNvSpPr txBox="1"/>
          <p:nvPr/>
        </p:nvSpPr>
        <p:spPr>
          <a:xfrm>
            <a:off x="521208" y="5020056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No AWS keys on Streamlit</a:t>
            </a:r>
            <a:endParaRPr/>
          </a:p>
        </p:txBody>
      </p:sp>
      <p:sp>
        <p:nvSpPr>
          <p:cNvPr id="790" name="Google Shape;790;p30"/>
          <p:cNvSpPr/>
          <p:nvPr/>
        </p:nvSpPr>
        <p:spPr>
          <a:xfrm>
            <a:off x="2752344" y="5010912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14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0"/>
          <p:cNvSpPr txBox="1"/>
          <p:nvPr/>
        </p:nvSpPr>
        <p:spPr>
          <a:xfrm>
            <a:off x="2798064" y="502005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x-api-key required</a:t>
            </a:r>
            <a:endParaRPr/>
          </a:p>
        </p:txBody>
      </p:sp>
      <p:sp>
        <p:nvSpPr>
          <p:cNvPr id="792" name="Google Shape;792;p30"/>
          <p:cNvSpPr/>
          <p:nvPr/>
        </p:nvSpPr>
        <p:spPr>
          <a:xfrm>
            <a:off x="4480560" y="5010912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14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0"/>
          <p:cNvSpPr txBox="1"/>
          <p:nvPr/>
        </p:nvSpPr>
        <p:spPr>
          <a:xfrm>
            <a:off x="4526280" y="5020056"/>
            <a:ext cx="187451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Fixed endpoint server-side</a:t>
            </a:r>
            <a:endParaRPr/>
          </a:p>
        </p:txBody>
      </p:sp>
      <p:sp>
        <p:nvSpPr>
          <p:cNvPr id="794" name="Google Shape;794;p30"/>
          <p:cNvSpPr/>
          <p:nvPr/>
        </p:nvSpPr>
        <p:spPr>
          <a:xfrm>
            <a:off x="6574536" y="5010912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1425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0"/>
          <p:cNvSpPr txBox="1"/>
          <p:nvPr/>
        </p:nvSpPr>
        <p:spPr>
          <a:xfrm>
            <a:off x="6620256" y="5020056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Fail closed on lineage mismatch</a:t>
            </a:r>
            <a:endParaRPr/>
          </a:p>
        </p:txBody>
      </p:sp>
      <p:sp>
        <p:nvSpPr>
          <p:cNvPr id="796" name="Google Shape;796;p30"/>
          <p:cNvSpPr/>
          <p:nvPr/>
        </p:nvSpPr>
        <p:spPr>
          <a:xfrm>
            <a:off x="8942832" y="5010912"/>
            <a:ext cx="1783080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14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0"/>
          <p:cNvSpPr txBox="1"/>
          <p:nvPr/>
        </p:nvSpPr>
        <p:spPr>
          <a:xfrm>
            <a:off x="8988552" y="5020056"/>
            <a:ext cx="169163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Target label never sent</a:t>
            </a:r>
            <a:endParaRPr/>
          </a:p>
        </p:txBody>
      </p:sp>
      <p:sp>
        <p:nvSpPr>
          <p:cNvPr id="798" name="Google Shape;798;p30"/>
          <p:cNvSpPr/>
          <p:nvPr/>
        </p:nvSpPr>
        <p:spPr>
          <a:xfrm>
            <a:off x="960120" y="5596128"/>
            <a:ext cx="10287000" cy="53035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5225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0"/>
          <p:cNvSpPr txBox="1"/>
          <p:nvPr/>
        </p:nvSpPr>
        <p:spPr>
          <a:xfrm>
            <a:off x="1069848" y="5632704"/>
            <a:ext cx="10067544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User-facing governance: academic screening support only — not a diagnosis; output wording is “Follow-up suggested” or “No warning detected”.</a:t>
            </a:r>
            <a:endParaRPr/>
          </a:p>
        </p:txBody>
      </p:sp>
      <p:sp>
        <p:nvSpPr>
          <p:cNvPr id="800" name="Google Shape;800;p30"/>
          <p:cNvSpPr/>
          <p:nvPr/>
        </p:nvSpPr>
        <p:spPr>
          <a:xfrm>
            <a:off x="274320" y="6565392"/>
            <a:ext cx="1164031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1"/>
          <p:cNvSpPr/>
          <p:nvPr/>
        </p:nvSpPr>
        <p:spPr>
          <a:xfrm>
            <a:off x="256032" y="164592"/>
            <a:ext cx="384048" cy="384048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1"/>
          <p:cNvSpPr txBox="1"/>
          <p:nvPr/>
        </p:nvSpPr>
        <p:spPr>
          <a:xfrm>
            <a:off x="256032" y="164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08" name="Google Shape;808;p31"/>
          <p:cNvSpPr txBox="1"/>
          <p:nvPr/>
        </p:nvSpPr>
        <p:spPr>
          <a:xfrm>
            <a:off x="749808" y="73152"/>
            <a:ext cx="103144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Demo — MLflow + Streamlit App</a:t>
            </a:r>
            <a:endParaRPr/>
          </a:p>
        </p:txBody>
      </p:sp>
      <p:sp>
        <p:nvSpPr>
          <p:cNvPr id="809" name="Google Shape;809;p31"/>
          <p:cNvSpPr txBox="1"/>
          <p:nvPr/>
        </p:nvSpPr>
        <p:spPr>
          <a:xfrm>
            <a:off x="749808" y="429768"/>
            <a:ext cx="1022299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Keep the demo fast: prove reproducibility in MLflow, then prove the deployed end-to-end inference path in Streamlit.</a:t>
            </a:r>
            <a:endParaRPr/>
          </a:p>
        </p:txBody>
      </p:sp>
      <p:sp>
        <p:nvSpPr>
          <p:cNvPr id="810" name="Google Shape;810;p31"/>
          <p:cNvSpPr/>
          <p:nvPr/>
        </p:nvSpPr>
        <p:spPr>
          <a:xfrm>
            <a:off x="438912" y="1051560"/>
            <a:ext cx="5504688" cy="523036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99F6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6236208" y="1051560"/>
            <a:ext cx="5504688" cy="52303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1"/>
          <p:cNvSpPr txBox="1"/>
          <p:nvPr/>
        </p:nvSpPr>
        <p:spPr>
          <a:xfrm>
            <a:off x="658368" y="120700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A. MLflow demo  |  ~60 seconds</a:t>
            </a:r>
            <a:endParaRPr/>
          </a:p>
        </p:txBody>
      </p:sp>
      <p:sp>
        <p:nvSpPr>
          <p:cNvPr id="813" name="Google Shape;813;p31"/>
          <p:cNvSpPr txBox="1"/>
          <p:nvPr/>
        </p:nvSpPr>
        <p:spPr>
          <a:xfrm>
            <a:off x="658368" y="1563624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Goal: show the audit trail behind the champion release.</a:t>
            </a:r>
            <a:endParaRPr/>
          </a:p>
        </p:txBody>
      </p:sp>
      <p:sp>
        <p:nvSpPr>
          <p:cNvPr id="814" name="Google Shape;814;p31"/>
          <p:cNvSpPr/>
          <p:nvPr/>
        </p:nvSpPr>
        <p:spPr>
          <a:xfrm>
            <a:off x="685800" y="1993392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1"/>
          <p:cNvSpPr txBox="1"/>
          <p:nvPr/>
        </p:nvSpPr>
        <p:spPr>
          <a:xfrm>
            <a:off x="685800" y="19933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16" name="Google Shape;816;p31"/>
          <p:cNvSpPr txBox="1"/>
          <p:nvPr/>
        </p:nvSpPr>
        <p:spPr>
          <a:xfrm>
            <a:off x="1078992" y="1975104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Team02 experiment</a:t>
            </a:r>
            <a:endParaRPr/>
          </a:p>
        </p:txBody>
      </p:sp>
      <p:sp>
        <p:nvSpPr>
          <p:cNvPr id="817" name="Google Shape;817;p31"/>
          <p:cNvSpPr txBox="1"/>
          <p:nvPr/>
        </p:nvSpPr>
        <p:spPr>
          <a:xfrm>
            <a:off x="1078992" y="2221992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ITI113/team02/diabetes-risk</a:t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685800" y="270662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1"/>
          <p:cNvSpPr txBox="1"/>
          <p:nvPr/>
        </p:nvSpPr>
        <p:spPr>
          <a:xfrm>
            <a:off x="685800" y="27066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20" name="Google Shape;820;p31"/>
          <p:cNvSpPr txBox="1"/>
          <p:nvPr/>
        </p:nvSpPr>
        <p:spPr>
          <a:xfrm>
            <a:off x="1078992" y="2688336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final champion / pipeline evidence run</a:t>
            </a:r>
            <a:endParaRPr/>
          </a:p>
        </p:txBody>
      </p:sp>
      <p:sp>
        <p:nvSpPr>
          <p:cNvPr id="821" name="Google Shape;821;p31"/>
          <p:cNvSpPr txBox="1"/>
          <p:nvPr/>
        </p:nvSpPr>
        <p:spPr>
          <a:xfrm>
            <a:off x="1078992" y="2935224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Identify the exact MLflow run ID</a:t>
            </a:r>
            <a:endParaRPr/>
          </a:p>
        </p:txBody>
      </p:sp>
      <p:sp>
        <p:nvSpPr>
          <p:cNvPr id="822" name="Google Shape;822;p31"/>
          <p:cNvSpPr/>
          <p:nvPr/>
        </p:nvSpPr>
        <p:spPr>
          <a:xfrm>
            <a:off x="685800" y="3419856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1"/>
          <p:cNvSpPr txBox="1"/>
          <p:nvPr/>
        </p:nvSpPr>
        <p:spPr>
          <a:xfrm>
            <a:off x="685800" y="34198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24" name="Google Shape;824;p31"/>
          <p:cNvSpPr txBox="1"/>
          <p:nvPr/>
        </p:nvSpPr>
        <p:spPr>
          <a:xfrm>
            <a:off x="1078992" y="3401568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Show Parameters</a:t>
            </a:r>
            <a:endParaRPr/>
          </a:p>
        </p:txBody>
      </p:sp>
      <p:sp>
        <p:nvSpPr>
          <p:cNvPr id="825" name="Google Shape;825;p31"/>
          <p:cNvSpPr txBox="1"/>
          <p:nvPr/>
        </p:nvSpPr>
        <p:spPr>
          <a:xfrm>
            <a:off x="1078992" y="3648456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model type · threshold · data/preprocessing config · source run IDs</a:t>
            </a:r>
            <a:endParaRPr/>
          </a:p>
        </p:txBody>
      </p:sp>
      <p:sp>
        <p:nvSpPr>
          <p:cNvPr id="826" name="Google Shape;826;p31"/>
          <p:cNvSpPr/>
          <p:nvPr/>
        </p:nvSpPr>
        <p:spPr>
          <a:xfrm>
            <a:off x="685800" y="4133088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1"/>
          <p:cNvSpPr txBox="1"/>
          <p:nvPr/>
        </p:nvSpPr>
        <p:spPr>
          <a:xfrm>
            <a:off x="685800" y="413308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28" name="Google Shape;828;p31"/>
          <p:cNvSpPr txBox="1"/>
          <p:nvPr/>
        </p:nvSpPr>
        <p:spPr>
          <a:xfrm>
            <a:off x="1078992" y="4114800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Show Metrics</a:t>
            </a:r>
            <a:endParaRPr dirty="0"/>
          </a:p>
        </p:txBody>
      </p:sp>
      <p:sp>
        <p:nvSpPr>
          <p:cNvPr id="829" name="Google Shape;829;p31"/>
          <p:cNvSpPr txBox="1"/>
          <p:nvPr/>
        </p:nvSpPr>
        <p:spPr>
          <a:xfrm>
            <a:off x="1078992" y="4361688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PR-AUC first; then ROC-AUC · recall · F1 / F2</a:t>
            </a:r>
            <a:endParaRPr/>
          </a:p>
        </p:txBody>
      </p:sp>
      <p:sp>
        <p:nvSpPr>
          <p:cNvPr id="830" name="Google Shape;830;p31"/>
          <p:cNvSpPr/>
          <p:nvPr/>
        </p:nvSpPr>
        <p:spPr>
          <a:xfrm>
            <a:off x="685800" y="484632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1"/>
          <p:cNvSpPr txBox="1"/>
          <p:nvPr/>
        </p:nvSpPr>
        <p:spPr>
          <a:xfrm>
            <a:off x="685800" y="48463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32" name="Google Shape;832;p31"/>
          <p:cNvSpPr txBox="1"/>
          <p:nvPr/>
        </p:nvSpPr>
        <p:spPr>
          <a:xfrm>
            <a:off x="1078992" y="4828032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Show Artifacts + Run ID</a:t>
            </a:r>
            <a:endParaRPr/>
          </a:p>
        </p:txBody>
      </p:sp>
      <p:sp>
        <p:nvSpPr>
          <p:cNvPr id="833" name="Google Shape;833;p31"/>
          <p:cNvSpPr txBox="1"/>
          <p:nvPr/>
        </p:nvSpPr>
        <p:spPr>
          <a:xfrm>
            <a:off x="1078992" y="5074920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reproducibility / lineage / evaluation evidence → Registry handoff</a:t>
            </a:r>
            <a:endParaRPr/>
          </a:p>
        </p:txBody>
      </p:sp>
      <p:sp>
        <p:nvSpPr>
          <p:cNvPr id="834" name="Google Shape;834;p31"/>
          <p:cNvSpPr/>
          <p:nvPr/>
        </p:nvSpPr>
        <p:spPr>
          <a:xfrm>
            <a:off x="713232" y="5577840"/>
            <a:ext cx="495604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1"/>
          <p:cNvSpPr txBox="1"/>
          <p:nvPr/>
        </p:nvSpPr>
        <p:spPr>
          <a:xfrm>
            <a:off x="822960" y="5614416"/>
            <a:ext cx="4736592" cy="36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Say this: “MLflow is our reproducibility and audit record — not just a dashboard.”</a:t>
            </a:r>
            <a:endParaRPr/>
          </a:p>
        </p:txBody>
      </p:sp>
      <p:sp>
        <p:nvSpPr>
          <p:cNvPr id="836" name="Google Shape;836;p31"/>
          <p:cNvSpPr txBox="1"/>
          <p:nvPr/>
        </p:nvSpPr>
        <p:spPr>
          <a:xfrm>
            <a:off x="6455664" y="120700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B. Streamlit demo  |  ~60–90 seconds</a:t>
            </a:r>
            <a:endParaRPr/>
          </a:p>
        </p:txBody>
      </p:sp>
      <p:sp>
        <p:nvSpPr>
          <p:cNvPr id="837" name="Google Shape;837;p31"/>
          <p:cNvSpPr txBox="1"/>
          <p:nvPr/>
        </p:nvSpPr>
        <p:spPr>
          <a:xfrm>
            <a:off x="6455664" y="1563624"/>
            <a:ext cx="4992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Pre-demo: FastAPI/ngrok notebook is running; public /predict URL is configured; endpoint is InService.</a:t>
            </a:r>
            <a:endParaRPr/>
          </a:p>
        </p:txBody>
      </p:sp>
      <p:sp>
        <p:nvSpPr>
          <p:cNvPr id="838" name="Google Shape;838;p31"/>
          <p:cNvSpPr/>
          <p:nvPr/>
        </p:nvSpPr>
        <p:spPr>
          <a:xfrm>
            <a:off x="6473952" y="210312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1"/>
          <p:cNvSpPr txBox="1"/>
          <p:nvPr/>
        </p:nvSpPr>
        <p:spPr>
          <a:xfrm>
            <a:off x="6473952" y="21031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40" name="Google Shape;840;p31"/>
          <p:cNvSpPr txBox="1"/>
          <p:nvPr/>
        </p:nvSpPr>
        <p:spPr>
          <a:xfrm>
            <a:off x="6858000" y="2084831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 system connection</a:t>
            </a:r>
            <a:endParaRPr/>
          </a:p>
        </p:txBody>
      </p:sp>
      <p:sp>
        <p:nvSpPr>
          <p:cNvPr id="841" name="Google Shape;841;p31"/>
          <p:cNvSpPr txBox="1"/>
          <p:nvPr/>
        </p:nvSpPr>
        <p:spPr>
          <a:xfrm>
            <a:off x="6858000" y="2331720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Show relay reachable + SageMaker endpoint InService</a:t>
            </a:r>
            <a:endParaRPr/>
          </a:p>
        </p:txBody>
      </p:sp>
      <p:sp>
        <p:nvSpPr>
          <p:cNvPr id="842" name="Google Shape;842;p31"/>
          <p:cNvSpPr/>
          <p:nvPr/>
        </p:nvSpPr>
        <p:spPr>
          <a:xfrm>
            <a:off x="6473952" y="281635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1"/>
          <p:cNvSpPr txBox="1"/>
          <p:nvPr/>
        </p:nvSpPr>
        <p:spPr>
          <a:xfrm>
            <a:off x="6473952" y="281635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44" name="Google Shape;844;p31"/>
          <p:cNvSpPr txBox="1"/>
          <p:nvPr/>
        </p:nvSpPr>
        <p:spPr>
          <a:xfrm>
            <a:off x="6858000" y="2798064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 one person</a:t>
            </a:r>
            <a:endParaRPr/>
          </a:p>
        </p:txBody>
      </p:sp>
      <p:sp>
        <p:nvSpPr>
          <p:cNvPr id="845" name="Google Shape;845;p31"/>
          <p:cNvSpPr txBox="1"/>
          <p:nvPr/>
        </p:nvSpPr>
        <p:spPr>
          <a:xfrm>
            <a:off x="6858000" y="3044952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Enter a simple example across the 21-feature form</a:t>
            </a:r>
            <a:endParaRPr/>
          </a:p>
        </p:txBody>
      </p:sp>
      <p:sp>
        <p:nvSpPr>
          <p:cNvPr id="846" name="Google Shape;846;p31"/>
          <p:cNvSpPr/>
          <p:nvPr/>
        </p:nvSpPr>
        <p:spPr>
          <a:xfrm>
            <a:off x="6473952" y="352958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1"/>
          <p:cNvSpPr txBox="1"/>
          <p:nvPr/>
        </p:nvSpPr>
        <p:spPr>
          <a:xfrm>
            <a:off x="6473952" y="35295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48" name="Google Shape;848;p31"/>
          <p:cNvSpPr txBox="1"/>
          <p:nvPr/>
        </p:nvSpPr>
        <p:spPr>
          <a:xfrm>
            <a:off x="6858000" y="3511296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Tick acknowledgement</a:t>
            </a:r>
            <a:endParaRPr/>
          </a:p>
        </p:txBody>
      </p:sp>
      <p:sp>
        <p:nvSpPr>
          <p:cNvPr id="849" name="Google Shape;849;p31"/>
          <p:cNvSpPr txBox="1"/>
          <p:nvPr/>
        </p:nvSpPr>
        <p:spPr>
          <a:xfrm>
            <a:off x="6858000" y="3758184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Screening support only — not a medical diagnosis</a:t>
            </a:r>
            <a:endParaRPr/>
          </a:p>
        </p:txBody>
      </p:sp>
      <p:sp>
        <p:nvSpPr>
          <p:cNvPr id="850" name="Google Shape;850;p31"/>
          <p:cNvSpPr/>
          <p:nvPr/>
        </p:nvSpPr>
        <p:spPr>
          <a:xfrm>
            <a:off x="6473952" y="424281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1"/>
          <p:cNvSpPr txBox="1"/>
          <p:nvPr/>
        </p:nvSpPr>
        <p:spPr>
          <a:xfrm>
            <a:off x="6473952" y="42428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52" name="Google Shape;852;p31"/>
          <p:cNvSpPr txBox="1"/>
          <p:nvPr/>
        </p:nvSpPr>
        <p:spPr>
          <a:xfrm>
            <a:off x="6858000" y="4224528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Run prediction</a:t>
            </a:r>
            <a:endParaRPr/>
          </a:p>
        </p:txBody>
      </p:sp>
      <p:sp>
        <p:nvSpPr>
          <p:cNvPr id="853" name="Google Shape;853;p31"/>
          <p:cNvSpPr txBox="1"/>
          <p:nvPr/>
        </p:nvSpPr>
        <p:spPr>
          <a:xfrm>
            <a:off x="6858000" y="4471416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Streamlit → ngrok → FastAPI → SageMaker → XGBoost</a:t>
            </a:r>
            <a:endParaRPr/>
          </a:p>
        </p:txBody>
      </p:sp>
      <p:sp>
        <p:nvSpPr>
          <p:cNvPr id="854" name="Google Shape;854;p31"/>
          <p:cNvSpPr/>
          <p:nvPr/>
        </p:nvSpPr>
        <p:spPr>
          <a:xfrm>
            <a:off x="6473952" y="495604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1"/>
          <p:cNvSpPr txBox="1"/>
          <p:nvPr/>
        </p:nvSpPr>
        <p:spPr>
          <a:xfrm>
            <a:off x="6473952" y="49560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56" name="Google Shape;856;p31"/>
          <p:cNvSpPr txBox="1"/>
          <p:nvPr/>
        </p:nvSpPr>
        <p:spPr>
          <a:xfrm>
            <a:off x="6858000" y="4937760"/>
            <a:ext cx="4526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Show result + evidence</a:t>
            </a:r>
            <a:endParaRPr/>
          </a:p>
        </p:txBody>
      </p:sp>
      <p:sp>
        <p:nvSpPr>
          <p:cNvPr id="857" name="Google Shape;857;p31"/>
          <p:cNvSpPr txBox="1"/>
          <p:nvPr/>
        </p:nvSpPr>
        <p:spPr>
          <a:xfrm>
            <a:off x="6858000" y="5184648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plain-language result; technical score / threshold / latency; download evidence JSON</a:t>
            </a:r>
            <a:endParaRPr/>
          </a:p>
        </p:txBody>
      </p:sp>
      <p:sp>
        <p:nvSpPr>
          <p:cNvPr id="858" name="Google Shape;858;p31"/>
          <p:cNvSpPr/>
          <p:nvPr/>
        </p:nvSpPr>
        <p:spPr>
          <a:xfrm>
            <a:off x="6510528" y="5650992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1"/>
          <p:cNvSpPr txBox="1"/>
          <p:nvPr/>
        </p:nvSpPr>
        <p:spPr>
          <a:xfrm>
            <a:off x="6620256" y="5687568"/>
            <a:ext cx="4672583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Optional if time: upload/paste a CSV and show batch validation + results.</a:t>
            </a:r>
            <a:endParaRPr/>
          </a:p>
        </p:txBody>
      </p:sp>
      <p:sp>
        <p:nvSpPr>
          <p:cNvPr id="860" name="Google Shape;860;p31"/>
          <p:cNvSpPr/>
          <p:nvPr/>
        </p:nvSpPr>
        <p:spPr>
          <a:xfrm>
            <a:off x="4224528" y="6181344"/>
            <a:ext cx="3749039" cy="329184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14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1"/>
          <p:cNvSpPr txBox="1"/>
          <p:nvPr/>
        </p:nvSpPr>
        <p:spPr>
          <a:xfrm>
            <a:off x="4270248" y="6190488"/>
            <a:ext cx="3657599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Recommended order: MLflow → Streamlit</a:t>
            </a:r>
            <a:endParaRPr/>
          </a:p>
        </p:txBody>
      </p:sp>
      <p:sp>
        <p:nvSpPr>
          <p:cNvPr id="862" name="Google Shape;862;p31"/>
          <p:cNvSpPr/>
          <p:nvPr/>
        </p:nvSpPr>
        <p:spPr>
          <a:xfrm>
            <a:off x="274320" y="6565392"/>
            <a:ext cx="1164031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476625"/>
            <a:ext cx="3048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476625"/>
            <a:ext cx="3048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0" y="3476625"/>
            <a:ext cx="30480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6422938"/>
            <a:ext cx="11239500" cy="241473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2"/>
          <p:cNvSpPr txBox="1"/>
          <p:nvPr/>
        </p:nvSpPr>
        <p:spPr>
          <a:xfrm>
            <a:off x="1600200" y="2247900"/>
            <a:ext cx="8991600" cy="610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F1F5F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 &amp; Questions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2"/>
          <p:cNvSpPr txBox="1"/>
          <p:nvPr/>
        </p:nvSpPr>
        <p:spPr>
          <a:xfrm>
            <a:off x="1600200" y="2981325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End-to-End Governed MLOps Pipeline for Diabetes Risk Screening 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2"/>
          <p:cNvSpPr txBox="1"/>
          <p:nvPr/>
        </p:nvSpPr>
        <p:spPr>
          <a:xfrm>
            <a:off x="3200400" y="4657725"/>
            <a:ext cx="5791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02: Fong Siang Yi | Djony Pamudji | Teh Tze Chee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2"/>
          <p:cNvSpPr txBox="1"/>
          <p:nvPr/>
        </p:nvSpPr>
        <p:spPr>
          <a:xfrm>
            <a:off x="476250" y="6543675"/>
            <a:ext cx="13335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Diabetes Risk Screening 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2"/>
          <p:cNvSpPr txBox="1"/>
          <p:nvPr/>
        </p:nvSpPr>
        <p:spPr>
          <a:xfrm>
            <a:off x="11087100" y="6543675"/>
            <a:ext cx="6286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18 of 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2"/>
          <p:cNvSpPr txBox="1"/>
          <p:nvPr/>
        </p:nvSpPr>
        <p:spPr>
          <a:xfrm>
            <a:off x="1571625" y="36957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&amp; Baselines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2"/>
          <p:cNvSpPr txBox="1"/>
          <p:nvPr/>
        </p:nvSpPr>
        <p:spPr>
          <a:xfrm>
            <a:off x="1571625" y="39052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253k BRFSS records, non-linear compounding risk, balanced Logistic Regression baseline.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2"/>
          <p:cNvSpPr txBox="1"/>
          <p:nvPr/>
        </p:nvSpPr>
        <p:spPr>
          <a:xfrm>
            <a:off x="4810125" y="36957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Champion &amp; Governance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2"/>
          <p:cNvSpPr txBox="1"/>
          <p:nvPr/>
        </p:nvSpPr>
        <p:spPr>
          <a:xfrm>
            <a:off x="4810125" y="39052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XGBoost (PR-AUC 0.514), AI Verify subgroup fairness audit, SHAP stability r=0.996.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2"/>
          <p:cNvSpPr txBox="1"/>
          <p:nvPr/>
        </p:nvSpPr>
        <p:spPr>
          <a:xfrm>
            <a:off x="8048625" y="36957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MLOps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2"/>
          <p:cNvSpPr txBox="1"/>
          <p:nvPr/>
        </p:nvSpPr>
        <p:spPr>
          <a:xfrm>
            <a:off x="8048625" y="39052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SHA-256 hashes, SageMaker pipelines, human-in-the-loop release, FastAPI relay.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4132</Words>
  <Application>Microsoft Office PowerPoint</Application>
  <PresentationFormat>Widescreen</PresentationFormat>
  <Paragraphs>538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Plus Jakarta Sans</vt:lpstr>
      <vt:lpstr>Plus Jakarta Sans ExtraBold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02 - ITI113</dc:creator>
  <cp:lastModifiedBy>Teh, Tze Chee</cp:lastModifiedBy>
  <cp:revision>1</cp:revision>
  <dcterms:created xsi:type="dcterms:W3CDTF">2026-08-23T08:55:58Z</dcterms:created>
  <dcterms:modified xsi:type="dcterms:W3CDTF">2026-08-26T13:12:46Z</dcterms:modified>
</cp:coreProperties>
</file>